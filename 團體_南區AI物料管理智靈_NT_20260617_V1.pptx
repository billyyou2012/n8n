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93473" r:id="rId4"/>
    <p:sldMasterId id="2147493497" r:id="rId5"/>
  </p:sldMasterIdLst>
  <p:notesMasterIdLst>
    <p:notesMasterId r:id="rId17"/>
  </p:notesMasterIdLst>
  <p:sldIdLst>
    <p:sldId id="329" r:id="rId6"/>
    <p:sldId id="332" r:id="rId7"/>
    <p:sldId id="622" r:id="rId8"/>
    <p:sldId id="641" r:id="rId9"/>
    <p:sldId id="638" r:id="rId10"/>
    <p:sldId id="637" r:id="rId11"/>
    <p:sldId id="617" r:id="rId12"/>
    <p:sldId id="628" r:id="rId13"/>
    <p:sldId id="642" r:id="rId14"/>
    <p:sldId id="362" r:id="rId15"/>
    <p:sldId id="327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9" userDrawn="1">
          <p15:clr>
            <a:srgbClr val="A4A3A4"/>
          </p15:clr>
        </p15:guide>
        <p15:guide id="2" pos="49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96969"/>
    <a:srgbClr val="F9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89" autoAdjust="0"/>
    <p:restoredTop sz="80672" autoAdjust="0"/>
  </p:normalViewPr>
  <p:slideViewPr>
    <p:cSldViewPr snapToGrid="0" snapToObjects="1">
      <p:cViewPr varScale="1">
        <p:scale>
          <a:sx n="110" d="100"/>
          <a:sy n="110" d="100"/>
        </p:scale>
        <p:origin x="341" y="77"/>
      </p:cViewPr>
      <p:guideLst>
        <p:guide orient="horz" pos="599"/>
        <p:guide pos="494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D823C-E2D9-4391-A6AB-6F9129B7CBC9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530DD-5851-4E95-AA59-124A48AD3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95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439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B2FD-4095-1224-0F34-1972615C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B321D2B-BC75-3C93-5AB9-0C0178560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1ACBDA0-FAE2-DA2C-87C1-D74184CC4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63A62A-6F0B-B58C-C4A9-ECFDDAD1B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5157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6E9BB-A441-A8DB-D17B-1CCC4D374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604B33E-1B93-46A8-ED87-C1A72C18D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6BF9EA-564C-7D5B-0DD6-EEF8EB31B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391424-F20E-6DDF-99E5-24F95B0F8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4621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8D125-BF76-1CFC-050C-E32C28F07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41555CC-4314-D270-4194-7C5326033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EB1D748-58E4-51F7-7B5C-D7146F6F8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8D2D8C-25C3-1860-31B0-8021EB4F6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7327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765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335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1666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944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62C6B1BE-DA6F-4D18-9578-3964225CA8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233" y="2384757"/>
            <a:ext cx="6215738" cy="5205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簡報主題</a:t>
            </a: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EE3FC0AF-0FBD-4372-9D37-F2ACF61EBA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3233" y="3237349"/>
            <a:ext cx="5109409" cy="2646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簡報者</a:t>
            </a:r>
          </a:p>
        </p:txBody>
      </p:sp>
    </p:spTree>
    <p:extLst>
      <p:ext uri="{BB962C8B-B14F-4D97-AF65-F5344CB8AC3E}">
        <p14:creationId xmlns:p14="http://schemas.microsoft.com/office/powerpoint/2010/main" val="980201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ne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616" y="1153875"/>
            <a:ext cx="5871397" cy="53912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None/>
              <a:defRPr sz="4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28616" y="2330340"/>
            <a:ext cx="5871397" cy="165704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457200" indent="-457200" algn="l">
              <a:buFontTx/>
              <a:buBlip>
                <a:blip r:embed="rId2"/>
              </a:buBlip>
              <a:defRPr sz="28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議題一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5263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20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7893843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2" name="圖片 1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11721961-DA8F-58F3-7677-2E1499E86F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1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61C47C7-3AEF-EDE0-C3D6-4C13B93B87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7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3801741" cy="3528719"/>
          </a:xfrm>
          <a:prstGeom prst="rect">
            <a:avLst/>
          </a:prstGeom>
        </p:spPr>
        <p:txBody>
          <a:bodyPr/>
          <a:lstStyle>
            <a:lvl1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32659" y="1076528"/>
            <a:ext cx="3801741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3" name="圖片 2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0A2FA373-8B5C-7E31-B4FC-8D52C85B13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9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602F459-7D41-36F3-8EC9-B176114E5B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10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7885816" cy="168915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1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102" y="2928240"/>
            <a:ext cx="7885816" cy="168915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3" name="圖片 2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DD3914E1-B72E-418F-7E37-777B3AEA06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0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B122655-25FA-538A-5606-89C233F94D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8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2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4757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3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28412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A72B30AB-EAA6-61D1-C44D-E3741477F9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48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D93FF71-3B94-C154-E843-D50B4E1A4A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pic>
        <p:nvPicPr>
          <p:cNvPr id="3" name="圖片 2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13D4B4AE-5572-5DAC-090B-B52D2B0CA6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6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7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20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7893843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0778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61C47C7-3AEF-EDE0-C3D6-4C13B93B87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7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3801741" cy="3528719"/>
          </a:xfrm>
          <a:prstGeom prst="rect">
            <a:avLst/>
          </a:prstGeom>
        </p:spPr>
        <p:txBody>
          <a:bodyPr/>
          <a:lstStyle>
            <a:lvl1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32659" y="1076528"/>
            <a:ext cx="3801741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89609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602F459-7D41-36F3-8EC9-B176114E5B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10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7885816" cy="168915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1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102" y="2928240"/>
            <a:ext cx="7885816" cy="168915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18205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B122655-25FA-538A-5606-89C233F94D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8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2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4757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3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28412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40802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D93FF71-3B94-C154-E843-D50B4E1A4A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7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473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74" r:id="rId1"/>
    <p:sldLayoutId id="2147493488" r:id="rId2"/>
    <p:sldLayoutId id="2147493485" r:id="rId3"/>
    <p:sldLayoutId id="2147493493" r:id="rId4"/>
    <p:sldLayoutId id="2147493494" r:id="rId5"/>
    <p:sldLayoutId id="2147493495" r:id="rId6"/>
    <p:sldLayoutId id="2147493496" r:id="rId7"/>
    <p:sldLayoutId id="2147493482" r:id="rId8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13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500" r:id="rId1"/>
    <p:sldLayoutId id="2147493501" r:id="rId2"/>
    <p:sldLayoutId id="2147493502" r:id="rId3"/>
    <p:sldLayoutId id="2147493503" r:id="rId4"/>
    <p:sldLayoutId id="2147493504" r:id="rId5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11" Type="http://schemas.openxmlformats.org/officeDocument/2006/relationships/image" Target="../media/image37.jpg"/><Relationship Id="rId5" Type="http://schemas.openxmlformats.org/officeDocument/2006/relationships/image" Target="../media/image31.png"/><Relationship Id="rId10" Type="http://schemas.openxmlformats.org/officeDocument/2006/relationships/image" Target="../media/image36.jpg"/><Relationship Id="rId4" Type="http://schemas.openxmlformats.org/officeDocument/2006/relationships/image" Target="../media/image30.png"/><Relationship Id="rId9" Type="http://schemas.openxmlformats.org/officeDocument/2006/relationships/image" Target="../media/image35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版面配置區 8"/>
          <p:cNvSpPr>
            <a:spLocks noGrp="1"/>
          </p:cNvSpPr>
          <p:nvPr>
            <p:ph type="body" sz="quarter" idx="11"/>
          </p:nvPr>
        </p:nvSpPr>
        <p:spPr>
          <a:xfrm>
            <a:off x="603233" y="3148907"/>
            <a:ext cx="5109409" cy="1229058"/>
          </a:xfrm>
        </p:spPr>
        <p:txBody>
          <a:bodyPr/>
          <a:lstStyle/>
          <a:p>
            <a:r>
              <a:rPr lang="en-US" altLang="zh-TW" dirty="0"/>
              <a:t>NT-RO-SEO-CNO  </a:t>
            </a:r>
          </a:p>
          <a:p>
            <a:r>
              <a:rPr lang="zh-TW" altLang="zh-TW" dirty="0"/>
              <a:t>主</a:t>
            </a:r>
            <a:r>
              <a:rPr lang="zh-TW" altLang="en-US" dirty="0"/>
              <a:t>要報告</a:t>
            </a:r>
            <a:r>
              <a:rPr lang="zh-TW" altLang="zh-TW" dirty="0"/>
              <a:t>:</a:t>
            </a:r>
            <a:r>
              <a:rPr lang="zh-TW" altLang="en-US" dirty="0"/>
              <a:t> 尤明智 </a:t>
            </a:r>
            <a:r>
              <a:rPr lang="en-US" altLang="zh-TW" dirty="0"/>
              <a:t>Billy Yu</a:t>
            </a:r>
          </a:p>
          <a:p>
            <a:r>
              <a:rPr lang="zh-TW" altLang="en-US" dirty="0"/>
              <a:t>次要報告</a:t>
            </a:r>
            <a:r>
              <a:rPr lang="zh-TW" altLang="zh-TW" dirty="0"/>
              <a:t>:</a:t>
            </a:r>
            <a:r>
              <a:rPr lang="en-US" altLang="zh-TW" dirty="0"/>
              <a:t> </a:t>
            </a:r>
            <a:r>
              <a:rPr lang="zh-TW" altLang="en-US" dirty="0"/>
              <a:t>劉財源 </a:t>
            </a:r>
            <a:r>
              <a:rPr lang="en-US" altLang="zh-TW" dirty="0"/>
              <a:t>Hank Liu</a:t>
            </a:r>
            <a:r>
              <a:rPr lang="zh-TW" altLang="en-US" dirty="0"/>
              <a:t> </a:t>
            </a:r>
            <a:r>
              <a:rPr lang="en-US" altLang="zh-TW" dirty="0"/>
              <a:t>/ </a:t>
            </a:r>
            <a:r>
              <a:rPr lang="zh-TW" altLang="en-US" dirty="0"/>
              <a:t>蔡儒昆 </a:t>
            </a:r>
            <a:r>
              <a:rPr lang="en-US" altLang="zh-TW" dirty="0"/>
              <a:t>Robert Tsai</a:t>
            </a:r>
          </a:p>
          <a:p>
            <a:endParaRPr lang="en-US" altLang="zh-TW" dirty="0"/>
          </a:p>
          <a:p>
            <a:r>
              <a:rPr lang="zh-TW" altLang="en-US" dirty="0"/>
              <a:t> </a:t>
            </a:r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0"/>
          </p:nvPr>
        </p:nvSpPr>
        <p:spPr>
          <a:xfrm>
            <a:off x="603233" y="2079284"/>
            <a:ext cx="6215738" cy="557351"/>
          </a:xfrm>
        </p:spPr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南區</a:t>
            </a:r>
            <a:r>
              <a:rPr lang="en-US" altLang="zh-TW" dirty="0">
                <a:solidFill>
                  <a:srgbClr val="0000FF"/>
                </a:solidFill>
              </a:rPr>
              <a:t>AI</a:t>
            </a:r>
            <a:r>
              <a:rPr lang="zh-TW" altLang="en-US" dirty="0">
                <a:solidFill>
                  <a:srgbClr val="0000FF"/>
                </a:solidFill>
              </a:rPr>
              <a:t>物料管理智靈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B2B6FC-AC49-50D8-E8C3-C584609615C7}"/>
              </a:ext>
            </a:extLst>
          </p:cNvPr>
          <p:cNvSpPr/>
          <p:nvPr/>
        </p:nvSpPr>
        <p:spPr>
          <a:xfrm>
            <a:off x="4908058" y="4389120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組別：團體</a:t>
            </a:r>
            <a:endParaRPr lang="en-US" altLang="zh-TW" sz="24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3906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1728616" y="567135"/>
            <a:ext cx="5871397" cy="539120"/>
          </a:xfrm>
        </p:spPr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>
          <a:xfrm>
            <a:off x="1728616" y="1743600"/>
            <a:ext cx="5871397" cy="2511018"/>
          </a:xfrm>
        </p:spPr>
        <p:txBody>
          <a:bodyPr/>
          <a:lstStyle/>
          <a:p>
            <a:r>
              <a:rPr lang="zh-TW" altLang="zh-TW" sz="2400" dirty="0"/>
              <a:t>案件背景</a:t>
            </a:r>
            <a:endParaRPr lang="en-US" altLang="zh-TW" sz="2400" dirty="0"/>
          </a:p>
          <a:p>
            <a:r>
              <a:rPr lang="zh-TW" altLang="zh-TW" sz="2400" dirty="0"/>
              <a:t>提案內容與實踐方式</a:t>
            </a:r>
            <a:endParaRPr lang="en-US" altLang="zh-TW" sz="2400" dirty="0"/>
          </a:p>
          <a:p>
            <a:r>
              <a:rPr lang="zh-TW" altLang="zh-TW" sz="2400" dirty="0"/>
              <a:t>應用機會說明</a:t>
            </a:r>
            <a:endParaRPr lang="en-US" altLang="zh-TW" sz="2400" dirty="0"/>
          </a:p>
          <a:p>
            <a:r>
              <a:rPr lang="zh-TW" altLang="zh-TW" sz="2400" dirty="0"/>
              <a:t>案件具體效益</a:t>
            </a:r>
            <a:endParaRPr lang="en-US" altLang="zh-TW" sz="2400" dirty="0"/>
          </a:p>
          <a:p>
            <a:r>
              <a:rPr lang="zh-TW" altLang="zh-TW" sz="2400" dirty="0"/>
              <a:t>團隊成員介紹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978519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4798E-322B-3F9C-7681-C077554B0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圖片 46">
            <a:extLst>
              <a:ext uri="{FF2B5EF4-FFF2-40B4-BE49-F238E27FC236}">
                <a16:creationId xmlns:a16="http://schemas.microsoft.com/office/drawing/2014/main" id="{0179EB46-E357-4DE0-2170-AD34432A5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49" y="3228327"/>
            <a:ext cx="2489953" cy="154627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5E753FB-4A75-0F72-2DBD-16ADDA0CF39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9C8A23C4-5B59-48EB-9166-D95BA49D025A}" type="slidenum">
              <a:rPr lang="zh-TW" altLang="en-US" smtClean="0"/>
              <a:pPr algn="ctr"/>
              <a:t>2</a:t>
            </a:fld>
            <a:endParaRPr 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9812DC4-D3F7-AF95-3CDA-378B6A8980BA}"/>
              </a:ext>
            </a:extLst>
          </p:cNvPr>
          <p:cNvSpPr txBox="1"/>
          <p:nvPr/>
        </p:nvSpPr>
        <p:spPr>
          <a:xfrm>
            <a:off x="3361155" y="914090"/>
            <a:ext cx="56436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crosoft Tai Le" panose="020B0502040204020203" pitchFamily="34" charset="0"/>
              </a:rPr>
              <a:t>廠商物料管理</a:t>
            </a:r>
            <a:r>
              <a:rPr lang="en-US" altLang="zh-TW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crosoft Tai Le" panose="020B0502040204020203" pitchFamily="34" charset="0"/>
              </a:rPr>
              <a:t>(</a:t>
            </a:r>
            <a:r>
              <a:rPr lang="zh-TW" altLang="en-US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crosoft Tai Le" panose="020B0502040204020203" pitchFamily="34" charset="0"/>
              </a:rPr>
              <a:t>無系統管理</a:t>
            </a:r>
            <a:r>
              <a:rPr lang="en-US" altLang="zh-TW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crosoft Tai Le" panose="020B0502040204020203" pitchFamily="34" charset="0"/>
              </a:rPr>
              <a:t>)</a:t>
            </a:r>
          </a:p>
          <a:p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Ericsson and NOKIA 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廠商物料缺乏系統管理，會發生</a:t>
            </a:r>
            <a:r>
              <a:rPr lang="zh-TW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找不到、漏登記、帳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料</a:t>
            </a:r>
            <a:r>
              <a:rPr lang="zh-TW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不符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等情形</a:t>
            </a:r>
            <a:r>
              <a:rPr lang="zh-TW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，風險越來越大！</a:t>
            </a:r>
          </a:p>
          <a:p>
            <a:endParaRPr lang="zh-TW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Microsoft Tai Le" panose="020B0502040204020203" pitchFamily="34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13D8169-0F07-9ECF-DA08-6BA072F92839}"/>
              </a:ext>
            </a:extLst>
          </p:cNvPr>
          <p:cNvSpPr txBox="1"/>
          <p:nvPr/>
        </p:nvSpPr>
        <p:spPr>
          <a:xfrm>
            <a:off x="3369975" y="2083641"/>
            <a:ext cx="5777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crosoft Tai Le" panose="020B0502040204020203" pitchFamily="34" charset="0"/>
              </a:rPr>
              <a:t>個人物料盤點</a:t>
            </a:r>
            <a:r>
              <a:rPr lang="en-US" altLang="zh-TW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crosoft Tai Le" panose="020B0502040204020203" pitchFamily="34" charset="0"/>
              </a:rPr>
              <a:t>(</a:t>
            </a:r>
            <a:r>
              <a:rPr lang="zh-TW" altLang="en-US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crosoft Tai Le" panose="020B0502040204020203" pitchFamily="34" charset="0"/>
              </a:rPr>
              <a:t>靠眼力辨識與手記</a:t>
            </a:r>
            <a:r>
              <a:rPr lang="en-US" altLang="zh-TW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crosoft Tai Le" panose="020B0502040204020203" pitchFamily="34" charset="0"/>
              </a:rPr>
              <a:t>)</a:t>
            </a:r>
          </a:p>
          <a:p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每年固定盤點、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ISO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外稽、內稽必查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人眼判讀紀錄</a:t>
            </a:r>
            <a:r>
              <a:rPr lang="zh-TW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效率差、錯誤多，人力成本高，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一直</a:t>
            </a:r>
            <a:r>
              <a:rPr lang="zh-TW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重複做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繁瑣動作</a:t>
            </a:r>
            <a:endParaRPr lang="zh-TW" altLang="zh-TW" sz="14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TW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Microsoft Tai Le" panose="020B0502040204020203" pitchFamily="34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22FE04E-6F68-0451-82AF-594E492C6684}"/>
              </a:ext>
            </a:extLst>
          </p:cNvPr>
          <p:cNvSpPr txBox="1"/>
          <p:nvPr/>
        </p:nvSpPr>
        <p:spPr>
          <a:xfrm>
            <a:off x="3369975" y="3512715"/>
            <a:ext cx="571438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crosoft Tai Le" panose="020B0502040204020203" pitchFamily="34" charset="0"/>
              </a:rPr>
              <a:t>搶修物料</a:t>
            </a:r>
            <a:r>
              <a:rPr lang="en-US" altLang="zh-TW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crosoft Tai Le" panose="020B0502040204020203" pitchFamily="34" charset="0"/>
              </a:rPr>
              <a:t>(</a:t>
            </a:r>
            <a:r>
              <a:rPr lang="zh-TW" altLang="en-US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crosoft Tai Le" panose="020B0502040204020203" pitchFamily="34" charset="0"/>
              </a:rPr>
              <a:t>靠人工查找</a:t>
            </a:r>
            <a:r>
              <a:rPr lang="en-US" altLang="zh-TW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crosoft Tai Le" panose="020B0502040204020203" pitchFamily="34" charset="0"/>
              </a:rPr>
              <a:t>)</a:t>
            </a:r>
          </a:p>
          <a:p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保管場所分散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只有保管人清楚位置 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緊急時要</a:t>
            </a:r>
            <a:r>
              <a:rPr lang="zh-TW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找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保管人確認備</a:t>
            </a:r>
            <a:r>
              <a:rPr lang="zh-TW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料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放哪裡</a:t>
            </a:r>
            <a:r>
              <a:rPr lang="zh-TW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延遲搶</a:t>
            </a:r>
            <a:r>
              <a:rPr lang="zh-TW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會讓</a:t>
            </a:r>
            <a:r>
              <a:rPr lang="zh-TW" altLang="zh-TW" sz="14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客戶不滿</a:t>
            </a:r>
          </a:p>
          <a:p>
            <a:endParaRPr lang="zh-TW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  <a:cs typeface="Microsoft Tai Le" panose="020B0502040204020203" pitchFamily="34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C893BB7-3132-82AC-D895-0C7972B40F8C}"/>
              </a:ext>
            </a:extLst>
          </p:cNvPr>
          <p:cNvSpPr txBox="1"/>
          <p:nvPr/>
        </p:nvSpPr>
        <p:spPr>
          <a:xfrm>
            <a:off x="263649" y="255061"/>
            <a:ext cx="1950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 i="1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zh-TW" dirty="0"/>
              <a:t>案件背景</a:t>
            </a:r>
            <a:endParaRPr lang="en-US" altLang="zh-TW" dirty="0"/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0A46D9A-3977-C437-FFBF-6F197911BBCD}"/>
              </a:ext>
            </a:extLst>
          </p:cNvPr>
          <p:cNvCxnSpPr/>
          <p:nvPr/>
        </p:nvCxnSpPr>
        <p:spPr>
          <a:xfrm>
            <a:off x="3775" y="738231"/>
            <a:ext cx="9144000" cy="0"/>
          </a:xfrm>
          <a:prstGeom prst="line">
            <a:avLst/>
          </a:prstGeom>
          <a:ln w="12700">
            <a:solidFill>
              <a:srgbClr val="FF0000">
                <a:alpha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左大括弧 42">
            <a:extLst>
              <a:ext uri="{FF2B5EF4-FFF2-40B4-BE49-F238E27FC236}">
                <a16:creationId xmlns:a16="http://schemas.microsoft.com/office/drawing/2014/main" id="{7EB062B0-4960-C7D2-9857-354993116E37}"/>
              </a:ext>
            </a:extLst>
          </p:cNvPr>
          <p:cNvSpPr/>
          <p:nvPr/>
        </p:nvSpPr>
        <p:spPr>
          <a:xfrm>
            <a:off x="3072384" y="951714"/>
            <a:ext cx="244415" cy="3240072"/>
          </a:xfrm>
          <a:prstGeom prst="leftBrace">
            <a:avLst/>
          </a:prstGeom>
          <a:ln w="28575">
            <a:solidFill>
              <a:srgbClr val="69696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CCA021-E69D-AD13-40D4-8F22AFF5A1F5}"/>
              </a:ext>
            </a:extLst>
          </p:cNvPr>
          <p:cNvSpPr txBox="1"/>
          <p:nvPr/>
        </p:nvSpPr>
        <p:spPr>
          <a:xfrm>
            <a:off x="263649" y="2004308"/>
            <a:ext cx="2905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維運工作痛點</a:t>
            </a:r>
          </a:p>
          <a:p>
            <a:r>
              <a:rPr lang="zh-TW" altLang="en-US" sz="16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設備物料資產屬公司關鍵零件，攸關網路穩定與服務品質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D16F9ED-8B08-6A85-226E-2844A4C56628}"/>
              </a:ext>
            </a:extLst>
          </p:cNvPr>
          <p:cNvSpPr txBox="1"/>
          <p:nvPr/>
        </p:nvSpPr>
        <p:spPr>
          <a:xfrm>
            <a:off x="2704706" y="201984"/>
            <a:ext cx="50250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i="1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傳統人工物料管理現在已經跟不上又快又準的維運需求，我們一定要用 </a:t>
            </a:r>
            <a:r>
              <a:rPr lang="en-US" altLang="zh-TW" sz="1400" b="1" i="1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TW" altLang="en-US" sz="1400" b="1" i="1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轉型，提升效率，確保帳料準確性。</a:t>
            </a:r>
            <a:endParaRPr lang="zh-HK" altLang="en-US" sz="1400" b="1" i="1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8398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BC627-A825-7DE2-AFF1-0CCEE00B4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>
            <a:extLst>
              <a:ext uri="{FF2B5EF4-FFF2-40B4-BE49-F238E27FC236}">
                <a16:creationId xmlns:a16="http://schemas.microsoft.com/office/drawing/2014/main" id="{744A4D3A-245F-722A-E293-7FC687033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481" y="3055401"/>
            <a:ext cx="680565" cy="344089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51A78568-340E-7FFC-DD75-A1FD087B6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691" y="1895712"/>
            <a:ext cx="310975" cy="257008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D670343B-14C9-DE56-E0CE-D5661157E56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4038" y="1884738"/>
            <a:ext cx="1271231" cy="190684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AAAA3EE-BCE9-E903-D71F-999B24E623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05111" y="4855464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24376D-BB5F-2623-6830-91CBB42E8817}"/>
              </a:ext>
            </a:extLst>
          </p:cNvPr>
          <p:cNvSpPr txBox="1"/>
          <p:nvPr/>
        </p:nvSpPr>
        <p:spPr>
          <a:xfrm>
            <a:off x="3847724" y="256170"/>
            <a:ext cx="40373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i="1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善用公司提供的</a:t>
            </a:r>
            <a:r>
              <a:rPr lang="en-US" altLang="zh-TW" sz="1400" b="1" i="1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TW" altLang="en-US" sz="1400" b="1" i="1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工具，實現「隨時、隨地、隨身」作業模式  提升物料管理效率與資料可追蹤性</a:t>
            </a:r>
            <a:endParaRPr lang="zh-HK" altLang="en-US" sz="1400" b="1" i="1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2ABF964-B558-1073-7AD4-DF21321B66FE}"/>
              </a:ext>
            </a:extLst>
          </p:cNvPr>
          <p:cNvSpPr txBox="1"/>
          <p:nvPr/>
        </p:nvSpPr>
        <p:spPr>
          <a:xfrm>
            <a:off x="166481" y="341578"/>
            <a:ext cx="45720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TW" altLang="zh-TW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提案內容與實踐方式</a:t>
            </a:r>
            <a:endParaRPr lang="en-US" altLang="zh-TW" sz="2800" b="1" i="1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B56D4480-ADE1-B204-8B00-9E5496995F18}"/>
              </a:ext>
            </a:extLst>
          </p:cNvPr>
          <p:cNvCxnSpPr/>
          <p:nvPr/>
        </p:nvCxnSpPr>
        <p:spPr>
          <a:xfrm>
            <a:off x="0" y="752996"/>
            <a:ext cx="9144000" cy="0"/>
          </a:xfrm>
          <a:prstGeom prst="line">
            <a:avLst/>
          </a:prstGeom>
          <a:ln w="12700">
            <a:solidFill>
              <a:srgbClr val="FF0000">
                <a:alpha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DD05ED3-8CE7-3576-BFDB-FF263E5A109E}"/>
              </a:ext>
            </a:extLst>
          </p:cNvPr>
          <p:cNvSpPr txBox="1"/>
          <p:nvPr/>
        </p:nvSpPr>
        <p:spPr>
          <a:xfrm>
            <a:off x="3358309" y="1023775"/>
            <a:ext cx="1650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i="1" spc="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TW" altLang="en-US" sz="3200" b="1" i="1" spc="3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項</a:t>
            </a:r>
            <a:r>
              <a:rPr lang="zh-TW" altLang="en-US" b="1" i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革新</a:t>
            </a:r>
            <a:endParaRPr lang="en-US" altLang="zh-TW" sz="2000" b="1" i="1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DE63C546-3793-8430-F354-E76390433F4E}"/>
              </a:ext>
            </a:extLst>
          </p:cNvPr>
          <p:cNvSpPr txBox="1"/>
          <p:nvPr/>
        </p:nvSpPr>
        <p:spPr>
          <a:xfrm>
            <a:off x="305963" y="1005195"/>
            <a:ext cx="2683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i="1" spc="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TW" altLang="en-US" sz="3200" b="1" i="1" spc="3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項</a:t>
            </a:r>
            <a:r>
              <a:rPr lang="zh-TW" altLang="zh-TW" b="1" i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首創技術</a:t>
            </a:r>
            <a:r>
              <a:rPr lang="zh-TW" altLang="en-US" i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zh-TW" altLang="en-US" sz="2000" i="1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249D50D6-0346-EAAF-C5AD-8D4EBE8F04D9}"/>
              </a:ext>
            </a:extLst>
          </p:cNvPr>
          <p:cNvSpPr txBox="1"/>
          <p:nvPr/>
        </p:nvSpPr>
        <p:spPr>
          <a:xfrm>
            <a:off x="8054536" y="3774275"/>
            <a:ext cx="108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9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手機 </a:t>
            </a:r>
            <a:r>
              <a:rPr lang="en-US" altLang="zh-TW" sz="9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Teams</a:t>
            </a:r>
            <a:r>
              <a:rPr lang="zh-TW" altLang="en-US" sz="9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altLang="zh-TW" sz="900" b="1" i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TW" altLang="en-US" sz="9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完成所有作業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9838EB9-51E4-A7F6-3BAC-D2B8BB1BF4C0}"/>
              </a:ext>
            </a:extLst>
          </p:cNvPr>
          <p:cNvSpPr txBox="1"/>
          <p:nvPr/>
        </p:nvSpPr>
        <p:spPr>
          <a:xfrm>
            <a:off x="619409" y="1601729"/>
            <a:ext cx="1944707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Power Automate</a:t>
            </a:r>
          </a:p>
          <a:p>
            <a:r>
              <a:rPr lang="zh-TW" altLang="en-US" sz="11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自動化流程 </a:t>
            </a:r>
            <a:r>
              <a:rPr lang="en-US" altLang="zh-TW" sz="11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+ AI </a:t>
            </a:r>
            <a:r>
              <a:rPr lang="zh-TW" altLang="en-US" sz="11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機器人</a:t>
            </a:r>
            <a:r>
              <a:rPr lang="zh-TW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完成廠商物料從領料到驗收的</a:t>
            </a:r>
            <a:r>
              <a:rPr lang="zh-TW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閉環管理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271A810-49C4-BA3C-CFA0-6BC6365A2F13}"/>
              </a:ext>
            </a:extLst>
          </p:cNvPr>
          <p:cNvSpPr txBox="1"/>
          <p:nvPr/>
        </p:nvSpPr>
        <p:spPr>
          <a:xfrm>
            <a:off x="647700" y="2814900"/>
            <a:ext cx="1944707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n8n AI</a:t>
            </a:r>
            <a:r>
              <a:rPr lang="zh-TW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 代理</a:t>
            </a:r>
            <a:endParaRPr lang="zh-TW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TW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使用</a:t>
            </a:r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AI</a:t>
            </a:r>
            <a:r>
              <a:rPr lang="zh-TW" altLang="en-US" sz="11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影像辨識 </a:t>
            </a:r>
            <a:r>
              <a:rPr lang="zh-TW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快速完成物料盤點與紀錄作業，提升物料</a:t>
            </a:r>
            <a:r>
              <a:rPr lang="zh-TW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盤點效率</a:t>
            </a:r>
            <a:endParaRPr lang="zh-TW" altLang="en-US" sz="1100" b="1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340749E-1B95-474F-8F18-871E4E729DFE}"/>
              </a:ext>
            </a:extLst>
          </p:cNvPr>
          <p:cNvSpPr txBox="1"/>
          <p:nvPr/>
        </p:nvSpPr>
        <p:spPr>
          <a:xfrm>
            <a:off x="619410" y="3839741"/>
            <a:ext cx="1944707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Copilot AI </a:t>
            </a:r>
            <a:r>
              <a:rPr lang="zh-TW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代理</a:t>
            </a:r>
            <a:endParaRPr lang="zh-TW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TW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使用</a:t>
            </a:r>
            <a:r>
              <a:rPr lang="zh-TW" altLang="en-US" sz="1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 </a:t>
            </a:r>
            <a:r>
              <a:rPr lang="en-US" altLang="zh-TW" sz="11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AI </a:t>
            </a:r>
            <a:r>
              <a:rPr lang="zh-TW" altLang="en-US" sz="11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機器人</a:t>
            </a:r>
            <a:r>
              <a:rPr lang="zh-TW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快速搜尋資料庫找到搶修物料，</a:t>
            </a:r>
            <a:r>
              <a:rPr lang="zh-TW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降低障礙搶修時間</a:t>
            </a:r>
            <a:r>
              <a:rPr lang="en-US" altLang="zh-TW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, </a:t>
            </a:r>
            <a:r>
              <a:rPr lang="zh-TW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減少客戶抱怨</a:t>
            </a:r>
            <a:endParaRPr lang="zh-TW" altLang="en-US" sz="1100" b="1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CF7403D-CC2F-A597-BF00-1E43EBDFD356}"/>
              </a:ext>
            </a:extLst>
          </p:cNvPr>
          <p:cNvSpPr txBox="1"/>
          <p:nvPr/>
        </p:nvSpPr>
        <p:spPr>
          <a:xfrm>
            <a:off x="3158371" y="1615521"/>
            <a:ext cx="2090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b="1" i="1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舊 </a:t>
            </a:r>
            <a:r>
              <a:rPr lang="en-US" altLang="zh-TW" sz="1400" b="1" i="1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-</a:t>
            </a:r>
            <a:r>
              <a:rPr lang="zh-TW" altLang="en-US" sz="1400" b="1" i="1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只用</a:t>
            </a:r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Line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照相存查   </a:t>
            </a:r>
            <a:endParaRPr lang="en-US" altLang="zh-TW" sz="1200" dirty="0"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  <a:p>
            <a:r>
              <a:rPr lang="zh-TW" altLang="en-US" sz="1400" b="1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新 </a:t>
            </a:r>
            <a:r>
              <a:rPr lang="en-US" altLang="zh-TW" sz="1400" b="1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-</a:t>
            </a:r>
            <a:r>
              <a:rPr lang="zh-TW" altLang="en-US" sz="1400" b="1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手機 </a:t>
            </a:r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teams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完成物料</a:t>
            </a:r>
            <a:endParaRPr lang="en-US" altLang="zh-TW" sz="120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  <a:p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         管理流程 </a:t>
            </a:r>
            <a:endParaRPr lang="en-US" altLang="zh-TW" sz="120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DE25AC7-ECF0-1863-D142-C779FC1D1651}"/>
              </a:ext>
            </a:extLst>
          </p:cNvPr>
          <p:cNvSpPr txBox="1"/>
          <p:nvPr/>
        </p:nvSpPr>
        <p:spPr>
          <a:xfrm>
            <a:off x="3157340" y="2845754"/>
            <a:ext cx="2327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b="1" i="1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舊 </a:t>
            </a:r>
            <a:r>
              <a:rPr lang="en-US" altLang="zh-TW" sz="1400" b="1" i="1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-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人眼比對</a:t>
            </a:r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/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手抄盤點物料  </a:t>
            </a:r>
            <a:endParaRPr lang="en-US" altLang="zh-TW" sz="120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  <a:p>
            <a:r>
              <a:rPr lang="zh-TW" altLang="en-US" sz="1400" b="1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新 </a:t>
            </a:r>
            <a:r>
              <a:rPr lang="en-US" altLang="zh-TW" sz="1400" b="1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-</a:t>
            </a:r>
            <a:r>
              <a:rPr lang="zh-TW" altLang="en-US" sz="1400" b="1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手機 </a:t>
            </a:r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teams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完成盤點與</a:t>
            </a:r>
            <a:endParaRPr lang="en-US" altLang="zh-TW" sz="120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  <a:p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       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紀錄</a:t>
            </a:r>
            <a:endParaRPr lang="en-US" altLang="zh-TW" sz="120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BFE72B3-DFC9-7E5B-1C0E-774BE34E4134}"/>
              </a:ext>
            </a:extLst>
          </p:cNvPr>
          <p:cNvSpPr txBox="1"/>
          <p:nvPr/>
        </p:nvSpPr>
        <p:spPr>
          <a:xfrm>
            <a:off x="3182399" y="3852331"/>
            <a:ext cx="2101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b="1" i="1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舊 </a:t>
            </a:r>
            <a:r>
              <a:rPr lang="en-US" altLang="zh-TW" sz="1400" b="1" i="1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-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口頭問保管人物料位置</a:t>
            </a:r>
            <a:endParaRPr lang="en-US" altLang="zh-TW" sz="110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  <a:p>
            <a:r>
              <a:rPr lang="zh-TW" altLang="en-US" sz="1400" b="1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新 </a:t>
            </a:r>
            <a:r>
              <a:rPr lang="en-US" altLang="zh-TW" sz="1400" b="1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-</a:t>
            </a:r>
            <a:r>
              <a:rPr lang="zh-TW" altLang="en-US" sz="1400" b="1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手機 </a:t>
            </a:r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teams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取得物料</a:t>
            </a:r>
            <a:endParaRPr lang="en-US" altLang="zh-TW" sz="120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  <a:p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        </a:t>
            </a: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位置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D15A6D6-DCA8-D1FF-AE19-E2671CA2EFAD}"/>
              </a:ext>
            </a:extLst>
          </p:cNvPr>
          <p:cNvSpPr txBox="1"/>
          <p:nvPr/>
        </p:nvSpPr>
        <p:spPr>
          <a:xfrm>
            <a:off x="5546422" y="2842667"/>
            <a:ext cx="2479383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1" dirty="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TW" altLang="en-US" sz="1200" b="1" dirty="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影像辨識比對</a:t>
            </a:r>
            <a:endParaRPr lang="en-US" altLang="zh-TW" sz="1000" dirty="0">
              <a:solidFill>
                <a:srgbClr val="17171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TW" altLang="en-US" sz="10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影像自動判讀料號序號</a:t>
            </a:r>
            <a:endParaRPr lang="en-US" altLang="zh-TW" sz="10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自動更新比對資產盤點結果</a:t>
            </a:r>
            <a:endParaRPr lang="en-US" altLang="zh-TW" sz="10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1D1E44A-61A9-77E0-7AA1-7AB379BEB86F}"/>
              </a:ext>
            </a:extLst>
          </p:cNvPr>
          <p:cNvSpPr txBox="1"/>
          <p:nvPr/>
        </p:nvSpPr>
        <p:spPr>
          <a:xfrm>
            <a:off x="5555072" y="1612323"/>
            <a:ext cx="3100730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1" dirty="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TW" altLang="en-US" sz="1200" b="1" dirty="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自動化完成流程</a:t>
            </a:r>
            <a:endParaRPr lang="en-US" altLang="zh-TW" sz="1000" dirty="0">
              <a:solidFill>
                <a:srgbClr val="17171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廠商物料清單電子化集中資料庫</a:t>
            </a:r>
            <a:endParaRPr lang="en-US" altLang="zh-TW" sz="10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工程師領料後即時更新資料庫</a:t>
            </a:r>
            <a:endParaRPr lang="en-US" altLang="zh-TW" sz="10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定期比對系統與領料使用狀況</a:t>
            </a:r>
            <a:endParaRPr lang="en-US" altLang="zh-TW" sz="10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定期產生報表追蹤通知修正</a:t>
            </a:r>
            <a:endParaRPr lang="en-US" altLang="zh-TW" sz="10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9FBE53A-E302-4A2B-F0B2-4D21D409F546}"/>
              </a:ext>
            </a:extLst>
          </p:cNvPr>
          <p:cNvSpPr txBox="1"/>
          <p:nvPr/>
        </p:nvSpPr>
        <p:spPr>
          <a:xfrm>
            <a:off x="5531754" y="3861911"/>
            <a:ext cx="2237107" cy="495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1" dirty="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TW" altLang="en-US" sz="1200" b="1" dirty="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自然語言查找</a:t>
            </a:r>
            <a:endParaRPr lang="en-US" altLang="zh-TW" sz="1200" dirty="0">
              <a:solidFill>
                <a:srgbClr val="17171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14313" indent="-214313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使用自然語言即時取得存放位置</a:t>
            </a:r>
            <a:endParaRPr lang="en-US" altLang="zh-TW" sz="10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65F80CE9-AC35-1816-3DA4-C767628F4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2905" y="4030819"/>
            <a:ext cx="322764" cy="294371"/>
          </a:xfrm>
          <a:prstGeom prst="rect">
            <a:avLst/>
          </a:prstGeom>
        </p:spPr>
      </p:pic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E72D74C3-01A0-478A-55C9-7B115A2EABB1}"/>
              </a:ext>
            </a:extLst>
          </p:cNvPr>
          <p:cNvCxnSpPr>
            <a:cxnSpLocks/>
          </p:cNvCxnSpPr>
          <p:nvPr/>
        </p:nvCxnSpPr>
        <p:spPr>
          <a:xfrm flipV="1">
            <a:off x="647700" y="2763566"/>
            <a:ext cx="7237413" cy="30445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8EDC459-F4CC-08F8-E017-FBE9C8266ACA}"/>
              </a:ext>
            </a:extLst>
          </p:cNvPr>
          <p:cNvCxnSpPr>
            <a:cxnSpLocks/>
          </p:cNvCxnSpPr>
          <p:nvPr/>
        </p:nvCxnSpPr>
        <p:spPr>
          <a:xfrm>
            <a:off x="675116" y="1538697"/>
            <a:ext cx="7192805" cy="24630"/>
          </a:xfrm>
          <a:prstGeom prst="line">
            <a:avLst/>
          </a:prstGeom>
          <a:ln w="63500" cmpd="thickThin">
            <a:solidFill>
              <a:schemeClr val="tx1">
                <a:alpha val="50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CAF724B3-C620-545D-435E-05EED54F6D9B}"/>
              </a:ext>
            </a:extLst>
          </p:cNvPr>
          <p:cNvCxnSpPr>
            <a:cxnSpLocks/>
          </p:cNvCxnSpPr>
          <p:nvPr/>
        </p:nvCxnSpPr>
        <p:spPr>
          <a:xfrm>
            <a:off x="647700" y="3758696"/>
            <a:ext cx="7237413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B7C7588-1293-587C-179B-97B6706C8FD8}"/>
              </a:ext>
            </a:extLst>
          </p:cNvPr>
          <p:cNvSpPr txBox="1"/>
          <p:nvPr/>
        </p:nvSpPr>
        <p:spPr>
          <a:xfrm>
            <a:off x="5750057" y="1027361"/>
            <a:ext cx="1650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i="1" spc="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TW" altLang="en-US" sz="3200" b="1" i="1" spc="3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項</a:t>
            </a:r>
            <a:r>
              <a:rPr lang="zh-TW" altLang="en-US" b="1" i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成效</a:t>
            </a:r>
            <a:endParaRPr lang="en-US" altLang="zh-TW" b="1" i="1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22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0C3E-4903-6A83-0885-86AD9744F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D3EC9CF-8B79-5006-677C-00266642BC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0" y="4868863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4</a:t>
            </a:fld>
            <a:endParaRPr 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6470F2EA-AD7A-995B-9CE7-3AD4EB530BBF}"/>
              </a:ext>
            </a:extLst>
          </p:cNvPr>
          <p:cNvSpPr txBox="1">
            <a:spLocks/>
          </p:cNvSpPr>
          <p:nvPr/>
        </p:nvSpPr>
        <p:spPr>
          <a:xfrm>
            <a:off x="498462" y="624903"/>
            <a:ext cx="2345407" cy="44529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pPr algn="l"/>
            <a:r>
              <a:rPr lang="en-US" altLang="zh-TW" sz="3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TW" altLang="en-US" sz="3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使用體驗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38B0A32-C468-5E3D-4C96-8C1ECE61B249}"/>
              </a:ext>
            </a:extLst>
          </p:cNvPr>
          <p:cNvSpPr txBox="1"/>
          <p:nvPr/>
        </p:nvSpPr>
        <p:spPr>
          <a:xfrm>
            <a:off x="154616" y="704147"/>
            <a:ext cx="3656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HK"/>
            </a:defPPr>
            <a:lvl1pPr>
              <a:defRPr sz="6600" b="1" i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 sz="2800" dirty="0"/>
              <a:t>三階段迭代策略</a:t>
            </a:r>
            <a:endParaRPr lang="zh-HK" altLang="en-US" sz="28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2E575BA-0E09-74EB-5EC6-9483B07C3601}"/>
              </a:ext>
            </a:extLst>
          </p:cNvPr>
          <p:cNvSpPr txBox="1"/>
          <p:nvPr/>
        </p:nvSpPr>
        <p:spPr>
          <a:xfrm>
            <a:off x="1060026" y="1239965"/>
            <a:ext cx="5264573" cy="86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</a:pPr>
            <a:r>
              <a:rPr lang="zh-TW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第一階段</a:t>
            </a:r>
            <a:r>
              <a:rPr lang="zh-HK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：場域擴散</a:t>
            </a:r>
            <a:endParaRPr lang="en-US" altLang="zh-HK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450"/>
              </a:spcBef>
            </a:pPr>
            <a:r>
              <a:rPr lang="zh-TW" altLang="en-US" sz="1400" spc="3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導入更多站點與維運團隊，讓手機 </a:t>
            </a:r>
            <a:r>
              <a:rPr lang="en-US" altLang="zh-TW" sz="1400" spc="3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Teams </a:t>
            </a:r>
            <a:r>
              <a:rPr lang="zh-TW" altLang="en-US" sz="1400" spc="3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成為物料管理入口從單點驗證擴大為多場域使用。</a:t>
            </a:r>
            <a:endParaRPr lang="zh-HK" altLang="en-US" sz="1400" spc="3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2" name="组合 96">
            <a:extLst>
              <a:ext uri="{FF2B5EF4-FFF2-40B4-BE49-F238E27FC236}">
                <a16:creationId xmlns:a16="http://schemas.microsoft.com/office/drawing/2014/main" id="{73E07941-6914-49B7-212F-23453B11CEFD}"/>
              </a:ext>
            </a:extLst>
          </p:cNvPr>
          <p:cNvGrpSpPr/>
          <p:nvPr/>
        </p:nvGrpSpPr>
        <p:grpSpPr>
          <a:xfrm>
            <a:off x="181709" y="1396435"/>
            <a:ext cx="679920" cy="577082"/>
            <a:chOff x="1881842" y="2656049"/>
            <a:chExt cx="2397222" cy="2093640"/>
          </a:xfrm>
          <a:effectLst/>
        </p:grpSpPr>
        <p:grpSp>
          <p:nvGrpSpPr>
            <p:cNvPr id="13" name="组合 97">
              <a:extLst>
                <a:ext uri="{FF2B5EF4-FFF2-40B4-BE49-F238E27FC236}">
                  <a16:creationId xmlns:a16="http://schemas.microsoft.com/office/drawing/2014/main" id="{2D9A1007-7E92-1A5C-3759-D7853E006882}"/>
                </a:ext>
              </a:extLst>
            </p:cNvPr>
            <p:cNvGrpSpPr/>
            <p:nvPr/>
          </p:nvGrpSpPr>
          <p:grpSpPr>
            <a:xfrm>
              <a:off x="1881842" y="2656049"/>
              <a:ext cx="2397222" cy="2093640"/>
              <a:chOff x="1511944" y="2420246"/>
              <a:chExt cx="2627152" cy="2294453"/>
            </a:xfrm>
            <a:effectLst>
              <a:outerShdw blurRad="203200" dist="38100" dir="3780000" sx="103000" sy="103000" algn="t" rotWithShape="0">
                <a:prstClr val="black">
                  <a:alpha val="25000"/>
                </a:prstClr>
              </a:outerShdw>
            </a:effectLst>
          </p:grpSpPr>
          <p:sp>
            <p:nvSpPr>
              <p:cNvPr id="15" name="Freeform 6">
                <a:extLst>
                  <a:ext uri="{FF2B5EF4-FFF2-40B4-BE49-F238E27FC236}">
                    <a16:creationId xmlns:a16="http://schemas.microsoft.com/office/drawing/2014/main" id="{3CCCC8FC-A86E-9FBA-9022-6DD57EDBD3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944" y="2420246"/>
                <a:ext cx="2627152" cy="2294453"/>
              </a:xfrm>
              <a:custGeom>
                <a:avLst/>
                <a:gdLst>
                  <a:gd name="T0" fmla="*/ 4479 w 4516"/>
                  <a:gd name="T1" fmla="*/ 2074 h 3947"/>
                  <a:gd name="T2" fmla="*/ 3967 w 4516"/>
                  <a:gd name="T3" fmla="*/ 2960 h 3947"/>
                  <a:gd name="T4" fmla="*/ 3455 w 4516"/>
                  <a:gd name="T5" fmla="*/ 3847 h 3947"/>
                  <a:gd name="T6" fmla="*/ 3282 w 4516"/>
                  <a:gd name="T7" fmla="*/ 3947 h 3947"/>
                  <a:gd name="T8" fmla="*/ 2258 w 4516"/>
                  <a:gd name="T9" fmla="*/ 3947 h 3947"/>
                  <a:gd name="T10" fmla="*/ 1234 w 4516"/>
                  <a:gd name="T11" fmla="*/ 3947 h 3947"/>
                  <a:gd name="T12" fmla="*/ 1061 w 4516"/>
                  <a:gd name="T13" fmla="*/ 3847 h 3947"/>
                  <a:gd name="T14" fmla="*/ 549 w 4516"/>
                  <a:gd name="T15" fmla="*/ 2960 h 3947"/>
                  <a:gd name="T16" fmla="*/ 37 w 4516"/>
                  <a:gd name="T17" fmla="*/ 2074 h 3947"/>
                  <a:gd name="T18" fmla="*/ 37 w 4516"/>
                  <a:gd name="T19" fmla="*/ 1874 h 3947"/>
                  <a:gd name="T20" fmla="*/ 549 w 4516"/>
                  <a:gd name="T21" fmla="*/ 987 h 3947"/>
                  <a:gd name="T22" fmla="*/ 1061 w 4516"/>
                  <a:gd name="T23" fmla="*/ 100 h 3947"/>
                  <a:gd name="T24" fmla="*/ 1234 w 4516"/>
                  <a:gd name="T25" fmla="*/ 0 h 3947"/>
                  <a:gd name="T26" fmla="*/ 2258 w 4516"/>
                  <a:gd name="T27" fmla="*/ 0 h 3947"/>
                  <a:gd name="T28" fmla="*/ 3282 w 4516"/>
                  <a:gd name="T29" fmla="*/ 0 h 3947"/>
                  <a:gd name="T30" fmla="*/ 3455 w 4516"/>
                  <a:gd name="T31" fmla="*/ 100 h 3947"/>
                  <a:gd name="T32" fmla="*/ 3967 w 4516"/>
                  <a:gd name="T33" fmla="*/ 987 h 3947"/>
                  <a:gd name="T34" fmla="*/ 4479 w 4516"/>
                  <a:gd name="T35" fmla="*/ 1874 h 3947"/>
                  <a:gd name="T36" fmla="*/ 4479 w 4516"/>
                  <a:gd name="T37" fmla="*/ 2074 h 3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16" h="3947">
                    <a:moveTo>
                      <a:pt x="4479" y="2074"/>
                    </a:moveTo>
                    <a:lnTo>
                      <a:pt x="3967" y="2960"/>
                    </a:lnTo>
                    <a:lnTo>
                      <a:pt x="3455" y="3847"/>
                    </a:lnTo>
                    <a:cubicBezTo>
                      <a:pt x="3418" y="3911"/>
                      <a:pt x="3355" y="3947"/>
                      <a:pt x="3282" y="3947"/>
                    </a:cubicBezTo>
                    <a:lnTo>
                      <a:pt x="2258" y="3947"/>
                    </a:lnTo>
                    <a:lnTo>
                      <a:pt x="1234" y="3947"/>
                    </a:lnTo>
                    <a:cubicBezTo>
                      <a:pt x="1160" y="3947"/>
                      <a:pt x="1097" y="3911"/>
                      <a:pt x="1061" y="3847"/>
                    </a:cubicBezTo>
                    <a:lnTo>
                      <a:pt x="549" y="2960"/>
                    </a:lnTo>
                    <a:lnTo>
                      <a:pt x="37" y="2074"/>
                    </a:lnTo>
                    <a:cubicBezTo>
                      <a:pt x="0" y="2010"/>
                      <a:pt x="0" y="1937"/>
                      <a:pt x="37" y="1874"/>
                    </a:cubicBezTo>
                    <a:lnTo>
                      <a:pt x="549" y="987"/>
                    </a:lnTo>
                    <a:lnTo>
                      <a:pt x="1061" y="100"/>
                    </a:lnTo>
                    <a:cubicBezTo>
                      <a:pt x="1097" y="36"/>
                      <a:pt x="1160" y="0"/>
                      <a:pt x="1234" y="0"/>
                    </a:cubicBezTo>
                    <a:lnTo>
                      <a:pt x="2258" y="0"/>
                    </a:lnTo>
                    <a:lnTo>
                      <a:pt x="3282" y="0"/>
                    </a:lnTo>
                    <a:cubicBezTo>
                      <a:pt x="3355" y="0"/>
                      <a:pt x="3418" y="36"/>
                      <a:pt x="3455" y="100"/>
                    </a:cubicBezTo>
                    <a:lnTo>
                      <a:pt x="3967" y="987"/>
                    </a:lnTo>
                    <a:lnTo>
                      <a:pt x="4479" y="1874"/>
                    </a:lnTo>
                    <a:cubicBezTo>
                      <a:pt x="4516" y="1937"/>
                      <a:pt x="4516" y="2010"/>
                      <a:pt x="4479" y="2074"/>
                    </a:cubicBezTo>
                    <a:close/>
                  </a:path>
                </a:pathLst>
              </a:custGeom>
              <a:solidFill>
                <a:schemeClr val="bg1"/>
              </a:solidFill>
              <a:ln w="7938" cap="flat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51435" tIns="25718" rIns="51435" bIns="25718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78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</a:endParaRPr>
              </a:p>
            </p:txBody>
          </p:sp>
          <p:sp>
            <p:nvSpPr>
              <p:cNvPr id="35" name="Freeform 6">
                <a:extLst>
                  <a:ext uri="{FF2B5EF4-FFF2-40B4-BE49-F238E27FC236}">
                    <a16:creationId xmlns:a16="http://schemas.microsoft.com/office/drawing/2014/main" id="{8E7AB0C7-6879-95A4-0610-26FCDA98B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4106" y="2431739"/>
                <a:ext cx="2602832" cy="2271469"/>
              </a:xfrm>
              <a:custGeom>
                <a:avLst/>
                <a:gdLst>
                  <a:gd name="T0" fmla="*/ 4479 w 4516"/>
                  <a:gd name="T1" fmla="*/ 2074 h 3947"/>
                  <a:gd name="T2" fmla="*/ 3967 w 4516"/>
                  <a:gd name="T3" fmla="*/ 2960 h 3947"/>
                  <a:gd name="T4" fmla="*/ 3455 w 4516"/>
                  <a:gd name="T5" fmla="*/ 3847 h 3947"/>
                  <a:gd name="T6" fmla="*/ 3282 w 4516"/>
                  <a:gd name="T7" fmla="*/ 3947 h 3947"/>
                  <a:gd name="T8" fmla="*/ 2258 w 4516"/>
                  <a:gd name="T9" fmla="*/ 3947 h 3947"/>
                  <a:gd name="T10" fmla="*/ 1234 w 4516"/>
                  <a:gd name="T11" fmla="*/ 3947 h 3947"/>
                  <a:gd name="T12" fmla="*/ 1061 w 4516"/>
                  <a:gd name="T13" fmla="*/ 3847 h 3947"/>
                  <a:gd name="T14" fmla="*/ 549 w 4516"/>
                  <a:gd name="T15" fmla="*/ 2960 h 3947"/>
                  <a:gd name="T16" fmla="*/ 37 w 4516"/>
                  <a:gd name="T17" fmla="*/ 2074 h 3947"/>
                  <a:gd name="T18" fmla="*/ 37 w 4516"/>
                  <a:gd name="T19" fmla="*/ 1874 h 3947"/>
                  <a:gd name="T20" fmla="*/ 549 w 4516"/>
                  <a:gd name="T21" fmla="*/ 987 h 3947"/>
                  <a:gd name="T22" fmla="*/ 1061 w 4516"/>
                  <a:gd name="T23" fmla="*/ 100 h 3947"/>
                  <a:gd name="T24" fmla="*/ 1234 w 4516"/>
                  <a:gd name="T25" fmla="*/ 0 h 3947"/>
                  <a:gd name="T26" fmla="*/ 2258 w 4516"/>
                  <a:gd name="T27" fmla="*/ 0 h 3947"/>
                  <a:gd name="T28" fmla="*/ 3282 w 4516"/>
                  <a:gd name="T29" fmla="*/ 0 h 3947"/>
                  <a:gd name="T30" fmla="*/ 3455 w 4516"/>
                  <a:gd name="T31" fmla="*/ 100 h 3947"/>
                  <a:gd name="T32" fmla="*/ 3967 w 4516"/>
                  <a:gd name="T33" fmla="*/ 987 h 3947"/>
                  <a:gd name="T34" fmla="*/ 4479 w 4516"/>
                  <a:gd name="T35" fmla="*/ 1874 h 3947"/>
                  <a:gd name="T36" fmla="*/ 4479 w 4516"/>
                  <a:gd name="T37" fmla="*/ 2074 h 3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16" h="3947">
                    <a:moveTo>
                      <a:pt x="4479" y="2074"/>
                    </a:moveTo>
                    <a:lnTo>
                      <a:pt x="3967" y="2960"/>
                    </a:lnTo>
                    <a:lnTo>
                      <a:pt x="3455" y="3847"/>
                    </a:lnTo>
                    <a:cubicBezTo>
                      <a:pt x="3418" y="3911"/>
                      <a:pt x="3355" y="3947"/>
                      <a:pt x="3282" y="3947"/>
                    </a:cubicBezTo>
                    <a:lnTo>
                      <a:pt x="2258" y="3947"/>
                    </a:lnTo>
                    <a:lnTo>
                      <a:pt x="1234" y="3947"/>
                    </a:lnTo>
                    <a:cubicBezTo>
                      <a:pt x="1160" y="3947"/>
                      <a:pt x="1097" y="3911"/>
                      <a:pt x="1061" y="3847"/>
                    </a:cubicBezTo>
                    <a:lnTo>
                      <a:pt x="549" y="2960"/>
                    </a:lnTo>
                    <a:lnTo>
                      <a:pt x="37" y="2074"/>
                    </a:lnTo>
                    <a:cubicBezTo>
                      <a:pt x="0" y="2010"/>
                      <a:pt x="0" y="1937"/>
                      <a:pt x="37" y="1874"/>
                    </a:cubicBezTo>
                    <a:lnTo>
                      <a:pt x="549" y="987"/>
                    </a:lnTo>
                    <a:lnTo>
                      <a:pt x="1061" y="100"/>
                    </a:lnTo>
                    <a:cubicBezTo>
                      <a:pt x="1097" y="36"/>
                      <a:pt x="1160" y="0"/>
                      <a:pt x="1234" y="0"/>
                    </a:cubicBezTo>
                    <a:lnTo>
                      <a:pt x="2258" y="0"/>
                    </a:lnTo>
                    <a:lnTo>
                      <a:pt x="3282" y="0"/>
                    </a:lnTo>
                    <a:cubicBezTo>
                      <a:pt x="3355" y="0"/>
                      <a:pt x="3418" y="36"/>
                      <a:pt x="3455" y="100"/>
                    </a:cubicBezTo>
                    <a:lnTo>
                      <a:pt x="3967" y="987"/>
                    </a:lnTo>
                    <a:lnTo>
                      <a:pt x="4479" y="1874"/>
                    </a:lnTo>
                    <a:cubicBezTo>
                      <a:pt x="4516" y="1937"/>
                      <a:pt x="4516" y="2010"/>
                      <a:pt x="4479" y="20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2000"/>
                      <a:lumOff val="18000"/>
                    </a:schemeClr>
                  </a:gs>
                  <a:gs pos="47000">
                    <a:srgbClr val="F5F5F5"/>
                  </a:gs>
                  <a:gs pos="100000">
                    <a:schemeClr val="bg1">
                      <a:lumMod val="95000"/>
                      <a:lumOff val="5000"/>
                    </a:schemeClr>
                  </a:gs>
                </a:gsLst>
                <a:lin ang="18900000" scaled="0"/>
              </a:gradFill>
              <a:ln w="7938" cap="flat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51435" tIns="25718" rIns="51435" bIns="25718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78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</a:endParaRPr>
              </a:p>
            </p:txBody>
          </p:sp>
        </p:grp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E29EDD89-7749-1E63-90D3-00F96CDF9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3525" y="2932555"/>
              <a:ext cx="1773860" cy="1540628"/>
            </a:xfrm>
            <a:custGeom>
              <a:avLst/>
              <a:gdLst>
                <a:gd name="T0" fmla="*/ 3404 w 3431"/>
                <a:gd name="T1" fmla="*/ 1576 h 2999"/>
                <a:gd name="T2" fmla="*/ 3015 w 3431"/>
                <a:gd name="T3" fmla="*/ 2249 h 2999"/>
                <a:gd name="T4" fmla="*/ 2625 w 3431"/>
                <a:gd name="T5" fmla="*/ 2923 h 2999"/>
                <a:gd name="T6" fmla="*/ 2494 w 3431"/>
                <a:gd name="T7" fmla="*/ 2999 h 2999"/>
                <a:gd name="T8" fmla="*/ 1716 w 3431"/>
                <a:gd name="T9" fmla="*/ 2999 h 2999"/>
                <a:gd name="T10" fmla="*/ 938 w 3431"/>
                <a:gd name="T11" fmla="*/ 2999 h 2999"/>
                <a:gd name="T12" fmla="*/ 806 w 3431"/>
                <a:gd name="T13" fmla="*/ 2923 h 2999"/>
                <a:gd name="T14" fmla="*/ 417 w 3431"/>
                <a:gd name="T15" fmla="*/ 2249 h 2999"/>
                <a:gd name="T16" fmla="*/ 28 w 3431"/>
                <a:gd name="T17" fmla="*/ 1576 h 2999"/>
                <a:gd name="T18" fmla="*/ 28 w 3431"/>
                <a:gd name="T19" fmla="*/ 1424 h 2999"/>
                <a:gd name="T20" fmla="*/ 417 w 3431"/>
                <a:gd name="T21" fmla="*/ 750 h 2999"/>
                <a:gd name="T22" fmla="*/ 806 w 3431"/>
                <a:gd name="T23" fmla="*/ 76 h 2999"/>
                <a:gd name="T24" fmla="*/ 938 w 3431"/>
                <a:gd name="T25" fmla="*/ 0 h 2999"/>
                <a:gd name="T26" fmla="*/ 1716 w 3431"/>
                <a:gd name="T27" fmla="*/ 0 h 2999"/>
                <a:gd name="T28" fmla="*/ 2494 w 3431"/>
                <a:gd name="T29" fmla="*/ 0 h 2999"/>
                <a:gd name="T30" fmla="*/ 2625 w 3431"/>
                <a:gd name="T31" fmla="*/ 76 h 2999"/>
                <a:gd name="T32" fmla="*/ 3015 w 3431"/>
                <a:gd name="T33" fmla="*/ 750 h 2999"/>
                <a:gd name="T34" fmla="*/ 3404 w 3431"/>
                <a:gd name="T35" fmla="*/ 1424 h 2999"/>
                <a:gd name="T36" fmla="*/ 3404 w 3431"/>
                <a:gd name="T37" fmla="*/ 1576 h 2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31" h="2999">
                  <a:moveTo>
                    <a:pt x="3404" y="1576"/>
                  </a:moveTo>
                  <a:lnTo>
                    <a:pt x="3015" y="2249"/>
                  </a:lnTo>
                  <a:lnTo>
                    <a:pt x="2625" y="2923"/>
                  </a:lnTo>
                  <a:cubicBezTo>
                    <a:pt x="2598" y="2972"/>
                    <a:pt x="2550" y="2999"/>
                    <a:pt x="2494" y="2999"/>
                  </a:cubicBezTo>
                  <a:lnTo>
                    <a:pt x="1716" y="2999"/>
                  </a:lnTo>
                  <a:lnTo>
                    <a:pt x="938" y="2999"/>
                  </a:lnTo>
                  <a:cubicBezTo>
                    <a:pt x="882" y="2999"/>
                    <a:pt x="834" y="2972"/>
                    <a:pt x="806" y="2923"/>
                  </a:cubicBezTo>
                  <a:lnTo>
                    <a:pt x="417" y="2249"/>
                  </a:lnTo>
                  <a:lnTo>
                    <a:pt x="28" y="1576"/>
                  </a:lnTo>
                  <a:cubicBezTo>
                    <a:pt x="0" y="1527"/>
                    <a:pt x="0" y="1472"/>
                    <a:pt x="28" y="1424"/>
                  </a:cubicBezTo>
                  <a:lnTo>
                    <a:pt x="417" y="750"/>
                  </a:lnTo>
                  <a:lnTo>
                    <a:pt x="806" y="76"/>
                  </a:lnTo>
                  <a:cubicBezTo>
                    <a:pt x="834" y="28"/>
                    <a:pt x="882" y="0"/>
                    <a:pt x="938" y="0"/>
                  </a:cubicBezTo>
                  <a:lnTo>
                    <a:pt x="1716" y="0"/>
                  </a:lnTo>
                  <a:lnTo>
                    <a:pt x="2494" y="0"/>
                  </a:lnTo>
                  <a:cubicBezTo>
                    <a:pt x="2550" y="0"/>
                    <a:pt x="2598" y="28"/>
                    <a:pt x="2625" y="76"/>
                  </a:cubicBezTo>
                  <a:lnTo>
                    <a:pt x="3015" y="750"/>
                  </a:lnTo>
                  <a:lnTo>
                    <a:pt x="3404" y="1424"/>
                  </a:lnTo>
                  <a:cubicBezTo>
                    <a:pt x="3431" y="1472"/>
                    <a:pt x="3431" y="1527"/>
                    <a:pt x="3404" y="1576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w="7938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51435" tIns="25718" rIns="51435" bIns="25718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TW" sz="27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lang="zh-CN" altLang="en-US" sz="27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D7A382F-E1FF-CAE5-41DD-14B0BB78B584}"/>
              </a:ext>
            </a:extLst>
          </p:cNvPr>
          <p:cNvSpPr txBox="1"/>
          <p:nvPr/>
        </p:nvSpPr>
        <p:spPr>
          <a:xfrm>
            <a:off x="1044563" y="2270689"/>
            <a:ext cx="5422193" cy="1079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</a:pPr>
            <a:r>
              <a:rPr lang="zh-TW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第二階段</a:t>
            </a:r>
            <a:r>
              <a:rPr lang="zh-HK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：能力升級</a:t>
            </a:r>
            <a:endParaRPr lang="en-US" altLang="zh-HK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450"/>
              </a:spcBef>
            </a:pPr>
            <a:r>
              <a:rPr lang="zh-TW" altLang="en-US" sz="1400" spc="3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透過 </a:t>
            </a:r>
            <a:r>
              <a:rPr lang="en-US" altLang="zh-TW" sz="1400" spc="3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TW" altLang="en-US" sz="1400" spc="3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分析障礙類型與搶修需求，自動推薦適用備料及最近倉儲位置，協助工程師快速掌握可用資源，從傳統被動查詢模式升級為智慧化主動建議。</a:t>
            </a:r>
            <a:endParaRPr lang="zh-HK" altLang="en-US" sz="1350" spc="3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7E3C04E-5F77-5929-5EF8-351BBAB56E93}"/>
              </a:ext>
            </a:extLst>
          </p:cNvPr>
          <p:cNvSpPr txBox="1"/>
          <p:nvPr/>
        </p:nvSpPr>
        <p:spPr>
          <a:xfrm>
            <a:off x="1044563" y="3471536"/>
            <a:ext cx="7823307" cy="1295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</a:pPr>
            <a:r>
              <a:rPr lang="zh-TW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第三階段</a:t>
            </a:r>
            <a:r>
              <a:rPr lang="zh-HK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：智</a:t>
            </a:r>
            <a:r>
              <a:rPr lang="zh-TW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慧</a:t>
            </a:r>
            <a:r>
              <a:rPr lang="zh-HK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決策</a:t>
            </a:r>
            <a:endParaRPr lang="en-US" altLang="zh-HK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ts val="450"/>
              </a:spcBef>
            </a:pPr>
            <a:r>
              <a:rPr lang="zh-TW" altLang="en-US" sz="1400" spc="3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透過工單、告警與歷史物料使用紀錄交叉分析</a:t>
            </a:r>
            <a:r>
              <a:rPr lang="zh-TW" altLang="en-US" sz="1400" spc="300" dirty="0">
                <a:solidFill>
                  <a:srgbClr val="6969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TW" sz="1400" spc="300" dirty="0">
                <a:solidFill>
                  <a:srgbClr val="6969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TW" altLang="en-US" sz="1400" spc="300" dirty="0">
                <a:solidFill>
                  <a:srgbClr val="6969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可提前掌握高風險站點與常用備料需求，</a:t>
            </a:r>
            <a:r>
              <a:rPr lang="en-US" altLang="zh-TW" sz="1400" spc="3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TW" altLang="en-US" sz="1400" spc="3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主動提出物料風險與補料建議</a:t>
            </a:r>
            <a:r>
              <a:rPr lang="zh-TW" altLang="en-US" sz="1400" spc="300" dirty="0">
                <a:solidFill>
                  <a:srgbClr val="6969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，協助管理者提前規劃庫存與調度策略，</a:t>
            </a:r>
            <a:r>
              <a:rPr lang="zh-TW" altLang="en-US" sz="1400" spc="3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讓系統從被動支援工具，升級為物料風險可預測、可調度決策的智慧維運平台</a:t>
            </a:r>
            <a:r>
              <a:rPr lang="zh-TW" altLang="en-US" sz="1400" spc="300" dirty="0">
                <a:solidFill>
                  <a:srgbClr val="6969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HK" altLang="en-US" sz="1400" spc="300" dirty="0">
              <a:solidFill>
                <a:srgbClr val="69696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8" name="组合 96">
            <a:extLst>
              <a:ext uri="{FF2B5EF4-FFF2-40B4-BE49-F238E27FC236}">
                <a16:creationId xmlns:a16="http://schemas.microsoft.com/office/drawing/2014/main" id="{488E393E-05EE-F834-3744-CA56C47456D1}"/>
              </a:ext>
            </a:extLst>
          </p:cNvPr>
          <p:cNvGrpSpPr/>
          <p:nvPr/>
        </p:nvGrpSpPr>
        <p:grpSpPr>
          <a:xfrm>
            <a:off x="181709" y="2570583"/>
            <a:ext cx="679920" cy="577082"/>
            <a:chOff x="1881842" y="2656049"/>
            <a:chExt cx="2397222" cy="2093640"/>
          </a:xfrm>
          <a:effectLst/>
        </p:grpSpPr>
        <p:grpSp>
          <p:nvGrpSpPr>
            <p:cNvPr id="39" name="组合 97">
              <a:extLst>
                <a:ext uri="{FF2B5EF4-FFF2-40B4-BE49-F238E27FC236}">
                  <a16:creationId xmlns:a16="http://schemas.microsoft.com/office/drawing/2014/main" id="{558343D9-DB99-0C23-E7BE-092771E7248A}"/>
                </a:ext>
              </a:extLst>
            </p:cNvPr>
            <p:cNvGrpSpPr/>
            <p:nvPr/>
          </p:nvGrpSpPr>
          <p:grpSpPr>
            <a:xfrm>
              <a:off x="1881842" y="2656049"/>
              <a:ext cx="2397222" cy="2093640"/>
              <a:chOff x="1511944" y="2420246"/>
              <a:chExt cx="2627152" cy="2294453"/>
            </a:xfrm>
            <a:effectLst>
              <a:outerShdw blurRad="203200" dist="38100" dir="3780000" sx="103000" sy="103000" algn="t" rotWithShape="0">
                <a:prstClr val="black">
                  <a:alpha val="25000"/>
                </a:prstClr>
              </a:outerShdw>
            </a:effectLst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0DC308E5-3DFA-9BE3-956E-0D91107B6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944" y="2420246"/>
                <a:ext cx="2627152" cy="2294453"/>
              </a:xfrm>
              <a:custGeom>
                <a:avLst/>
                <a:gdLst>
                  <a:gd name="T0" fmla="*/ 4479 w 4516"/>
                  <a:gd name="T1" fmla="*/ 2074 h 3947"/>
                  <a:gd name="T2" fmla="*/ 3967 w 4516"/>
                  <a:gd name="T3" fmla="*/ 2960 h 3947"/>
                  <a:gd name="T4" fmla="*/ 3455 w 4516"/>
                  <a:gd name="T5" fmla="*/ 3847 h 3947"/>
                  <a:gd name="T6" fmla="*/ 3282 w 4516"/>
                  <a:gd name="T7" fmla="*/ 3947 h 3947"/>
                  <a:gd name="T8" fmla="*/ 2258 w 4516"/>
                  <a:gd name="T9" fmla="*/ 3947 h 3947"/>
                  <a:gd name="T10" fmla="*/ 1234 w 4516"/>
                  <a:gd name="T11" fmla="*/ 3947 h 3947"/>
                  <a:gd name="T12" fmla="*/ 1061 w 4516"/>
                  <a:gd name="T13" fmla="*/ 3847 h 3947"/>
                  <a:gd name="T14" fmla="*/ 549 w 4516"/>
                  <a:gd name="T15" fmla="*/ 2960 h 3947"/>
                  <a:gd name="T16" fmla="*/ 37 w 4516"/>
                  <a:gd name="T17" fmla="*/ 2074 h 3947"/>
                  <a:gd name="T18" fmla="*/ 37 w 4516"/>
                  <a:gd name="T19" fmla="*/ 1874 h 3947"/>
                  <a:gd name="T20" fmla="*/ 549 w 4516"/>
                  <a:gd name="T21" fmla="*/ 987 h 3947"/>
                  <a:gd name="T22" fmla="*/ 1061 w 4516"/>
                  <a:gd name="T23" fmla="*/ 100 h 3947"/>
                  <a:gd name="T24" fmla="*/ 1234 w 4516"/>
                  <a:gd name="T25" fmla="*/ 0 h 3947"/>
                  <a:gd name="T26" fmla="*/ 2258 w 4516"/>
                  <a:gd name="T27" fmla="*/ 0 h 3947"/>
                  <a:gd name="T28" fmla="*/ 3282 w 4516"/>
                  <a:gd name="T29" fmla="*/ 0 h 3947"/>
                  <a:gd name="T30" fmla="*/ 3455 w 4516"/>
                  <a:gd name="T31" fmla="*/ 100 h 3947"/>
                  <a:gd name="T32" fmla="*/ 3967 w 4516"/>
                  <a:gd name="T33" fmla="*/ 987 h 3947"/>
                  <a:gd name="T34" fmla="*/ 4479 w 4516"/>
                  <a:gd name="T35" fmla="*/ 1874 h 3947"/>
                  <a:gd name="T36" fmla="*/ 4479 w 4516"/>
                  <a:gd name="T37" fmla="*/ 2074 h 3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16" h="3947">
                    <a:moveTo>
                      <a:pt x="4479" y="2074"/>
                    </a:moveTo>
                    <a:lnTo>
                      <a:pt x="3967" y="2960"/>
                    </a:lnTo>
                    <a:lnTo>
                      <a:pt x="3455" y="3847"/>
                    </a:lnTo>
                    <a:cubicBezTo>
                      <a:pt x="3418" y="3911"/>
                      <a:pt x="3355" y="3947"/>
                      <a:pt x="3282" y="3947"/>
                    </a:cubicBezTo>
                    <a:lnTo>
                      <a:pt x="2258" y="3947"/>
                    </a:lnTo>
                    <a:lnTo>
                      <a:pt x="1234" y="3947"/>
                    </a:lnTo>
                    <a:cubicBezTo>
                      <a:pt x="1160" y="3947"/>
                      <a:pt x="1097" y="3911"/>
                      <a:pt x="1061" y="3847"/>
                    </a:cubicBezTo>
                    <a:lnTo>
                      <a:pt x="549" y="2960"/>
                    </a:lnTo>
                    <a:lnTo>
                      <a:pt x="37" y="2074"/>
                    </a:lnTo>
                    <a:cubicBezTo>
                      <a:pt x="0" y="2010"/>
                      <a:pt x="0" y="1937"/>
                      <a:pt x="37" y="1874"/>
                    </a:cubicBezTo>
                    <a:lnTo>
                      <a:pt x="549" y="987"/>
                    </a:lnTo>
                    <a:lnTo>
                      <a:pt x="1061" y="100"/>
                    </a:lnTo>
                    <a:cubicBezTo>
                      <a:pt x="1097" y="36"/>
                      <a:pt x="1160" y="0"/>
                      <a:pt x="1234" y="0"/>
                    </a:cubicBezTo>
                    <a:lnTo>
                      <a:pt x="2258" y="0"/>
                    </a:lnTo>
                    <a:lnTo>
                      <a:pt x="3282" y="0"/>
                    </a:lnTo>
                    <a:cubicBezTo>
                      <a:pt x="3355" y="0"/>
                      <a:pt x="3418" y="36"/>
                      <a:pt x="3455" y="100"/>
                    </a:cubicBezTo>
                    <a:lnTo>
                      <a:pt x="3967" y="987"/>
                    </a:lnTo>
                    <a:lnTo>
                      <a:pt x="4479" y="1874"/>
                    </a:lnTo>
                    <a:cubicBezTo>
                      <a:pt x="4516" y="1937"/>
                      <a:pt x="4516" y="2010"/>
                      <a:pt x="4479" y="2074"/>
                    </a:cubicBezTo>
                    <a:close/>
                  </a:path>
                </a:pathLst>
              </a:custGeom>
              <a:solidFill>
                <a:schemeClr val="bg1"/>
              </a:solidFill>
              <a:ln w="7938" cap="flat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51435" tIns="25718" rIns="51435" bIns="25718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78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</a:endParaRPr>
              </a:p>
            </p:txBody>
          </p:sp>
          <p:sp>
            <p:nvSpPr>
              <p:cNvPr id="42" name="Freeform 6">
                <a:extLst>
                  <a:ext uri="{FF2B5EF4-FFF2-40B4-BE49-F238E27FC236}">
                    <a16:creationId xmlns:a16="http://schemas.microsoft.com/office/drawing/2014/main" id="{49A75ED3-CF3C-5019-85D4-BE53F5F44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4106" y="2431739"/>
                <a:ext cx="2602832" cy="2271469"/>
              </a:xfrm>
              <a:custGeom>
                <a:avLst/>
                <a:gdLst>
                  <a:gd name="T0" fmla="*/ 4479 w 4516"/>
                  <a:gd name="T1" fmla="*/ 2074 h 3947"/>
                  <a:gd name="T2" fmla="*/ 3967 w 4516"/>
                  <a:gd name="T3" fmla="*/ 2960 h 3947"/>
                  <a:gd name="T4" fmla="*/ 3455 w 4516"/>
                  <a:gd name="T5" fmla="*/ 3847 h 3947"/>
                  <a:gd name="T6" fmla="*/ 3282 w 4516"/>
                  <a:gd name="T7" fmla="*/ 3947 h 3947"/>
                  <a:gd name="T8" fmla="*/ 2258 w 4516"/>
                  <a:gd name="T9" fmla="*/ 3947 h 3947"/>
                  <a:gd name="T10" fmla="*/ 1234 w 4516"/>
                  <a:gd name="T11" fmla="*/ 3947 h 3947"/>
                  <a:gd name="T12" fmla="*/ 1061 w 4516"/>
                  <a:gd name="T13" fmla="*/ 3847 h 3947"/>
                  <a:gd name="T14" fmla="*/ 549 w 4516"/>
                  <a:gd name="T15" fmla="*/ 2960 h 3947"/>
                  <a:gd name="T16" fmla="*/ 37 w 4516"/>
                  <a:gd name="T17" fmla="*/ 2074 h 3947"/>
                  <a:gd name="T18" fmla="*/ 37 w 4516"/>
                  <a:gd name="T19" fmla="*/ 1874 h 3947"/>
                  <a:gd name="T20" fmla="*/ 549 w 4516"/>
                  <a:gd name="T21" fmla="*/ 987 h 3947"/>
                  <a:gd name="T22" fmla="*/ 1061 w 4516"/>
                  <a:gd name="T23" fmla="*/ 100 h 3947"/>
                  <a:gd name="T24" fmla="*/ 1234 w 4516"/>
                  <a:gd name="T25" fmla="*/ 0 h 3947"/>
                  <a:gd name="T26" fmla="*/ 2258 w 4516"/>
                  <a:gd name="T27" fmla="*/ 0 h 3947"/>
                  <a:gd name="T28" fmla="*/ 3282 w 4516"/>
                  <a:gd name="T29" fmla="*/ 0 h 3947"/>
                  <a:gd name="T30" fmla="*/ 3455 w 4516"/>
                  <a:gd name="T31" fmla="*/ 100 h 3947"/>
                  <a:gd name="T32" fmla="*/ 3967 w 4516"/>
                  <a:gd name="T33" fmla="*/ 987 h 3947"/>
                  <a:gd name="T34" fmla="*/ 4479 w 4516"/>
                  <a:gd name="T35" fmla="*/ 1874 h 3947"/>
                  <a:gd name="T36" fmla="*/ 4479 w 4516"/>
                  <a:gd name="T37" fmla="*/ 2074 h 3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16" h="3947">
                    <a:moveTo>
                      <a:pt x="4479" y="2074"/>
                    </a:moveTo>
                    <a:lnTo>
                      <a:pt x="3967" y="2960"/>
                    </a:lnTo>
                    <a:lnTo>
                      <a:pt x="3455" y="3847"/>
                    </a:lnTo>
                    <a:cubicBezTo>
                      <a:pt x="3418" y="3911"/>
                      <a:pt x="3355" y="3947"/>
                      <a:pt x="3282" y="3947"/>
                    </a:cubicBezTo>
                    <a:lnTo>
                      <a:pt x="2258" y="3947"/>
                    </a:lnTo>
                    <a:lnTo>
                      <a:pt x="1234" y="3947"/>
                    </a:lnTo>
                    <a:cubicBezTo>
                      <a:pt x="1160" y="3947"/>
                      <a:pt x="1097" y="3911"/>
                      <a:pt x="1061" y="3847"/>
                    </a:cubicBezTo>
                    <a:lnTo>
                      <a:pt x="549" y="2960"/>
                    </a:lnTo>
                    <a:lnTo>
                      <a:pt x="37" y="2074"/>
                    </a:lnTo>
                    <a:cubicBezTo>
                      <a:pt x="0" y="2010"/>
                      <a:pt x="0" y="1937"/>
                      <a:pt x="37" y="1874"/>
                    </a:cubicBezTo>
                    <a:lnTo>
                      <a:pt x="549" y="987"/>
                    </a:lnTo>
                    <a:lnTo>
                      <a:pt x="1061" y="100"/>
                    </a:lnTo>
                    <a:cubicBezTo>
                      <a:pt x="1097" y="36"/>
                      <a:pt x="1160" y="0"/>
                      <a:pt x="1234" y="0"/>
                    </a:cubicBezTo>
                    <a:lnTo>
                      <a:pt x="2258" y="0"/>
                    </a:lnTo>
                    <a:lnTo>
                      <a:pt x="3282" y="0"/>
                    </a:lnTo>
                    <a:cubicBezTo>
                      <a:pt x="3355" y="0"/>
                      <a:pt x="3418" y="36"/>
                      <a:pt x="3455" y="100"/>
                    </a:cubicBezTo>
                    <a:lnTo>
                      <a:pt x="3967" y="987"/>
                    </a:lnTo>
                    <a:lnTo>
                      <a:pt x="4479" y="1874"/>
                    </a:lnTo>
                    <a:cubicBezTo>
                      <a:pt x="4516" y="1937"/>
                      <a:pt x="4516" y="2010"/>
                      <a:pt x="4479" y="20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2000"/>
                      <a:lumOff val="18000"/>
                    </a:schemeClr>
                  </a:gs>
                  <a:gs pos="47000">
                    <a:srgbClr val="F5F5F5"/>
                  </a:gs>
                  <a:gs pos="100000">
                    <a:schemeClr val="bg1">
                      <a:lumMod val="95000"/>
                      <a:lumOff val="5000"/>
                    </a:schemeClr>
                  </a:gs>
                </a:gsLst>
                <a:lin ang="18900000" scaled="0"/>
              </a:gradFill>
              <a:ln w="7938" cap="flat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51435" tIns="25718" rIns="51435" bIns="25718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78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</a:endParaRPr>
              </a:p>
            </p:txBody>
          </p:sp>
        </p:grp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44B41330-87A8-E827-362D-31598E9AF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3523" y="2932555"/>
              <a:ext cx="1773860" cy="1540629"/>
            </a:xfrm>
            <a:custGeom>
              <a:avLst/>
              <a:gdLst>
                <a:gd name="T0" fmla="*/ 3404 w 3431"/>
                <a:gd name="T1" fmla="*/ 1576 h 2999"/>
                <a:gd name="T2" fmla="*/ 3015 w 3431"/>
                <a:gd name="T3" fmla="*/ 2249 h 2999"/>
                <a:gd name="T4" fmla="*/ 2625 w 3431"/>
                <a:gd name="T5" fmla="*/ 2923 h 2999"/>
                <a:gd name="T6" fmla="*/ 2494 w 3431"/>
                <a:gd name="T7" fmla="*/ 2999 h 2999"/>
                <a:gd name="T8" fmla="*/ 1716 w 3431"/>
                <a:gd name="T9" fmla="*/ 2999 h 2999"/>
                <a:gd name="T10" fmla="*/ 938 w 3431"/>
                <a:gd name="T11" fmla="*/ 2999 h 2999"/>
                <a:gd name="T12" fmla="*/ 806 w 3431"/>
                <a:gd name="T13" fmla="*/ 2923 h 2999"/>
                <a:gd name="T14" fmla="*/ 417 w 3431"/>
                <a:gd name="T15" fmla="*/ 2249 h 2999"/>
                <a:gd name="T16" fmla="*/ 28 w 3431"/>
                <a:gd name="T17" fmla="*/ 1576 h 2999"/>
                <a:gd name="T18" fmla="*/ 28 w 3431"/>
                <a:gd name="T19" fmla="*/ 1424 h 2999"/>
                <a:gd name="T20" fmla="*/ 417 w 3431"/>
                <a:gd name="T21" fmla="*/ 750 h 2999"/>
                <a:gd name="T22" fmla="*/ 806 w 3431"/>
                <a:gd name="T23" fmla="*/ 76 h 2999"/>
                <a:gd name="T24" fmla="*/ 938 w 3431"/>
                <a:gd name="T25" fmla="*/ 0 h 2999"/>
                <a:gd name="T26" fmla="*/ 1716 w 3431"/>
                <a:gd name="T27" fmla="*/ 0 h 2999"/>
                <a:gd name="T28" fmla="*/ 2494 w 3431"/>
                <a:gd name="T29" fmla="*/ 0 h 2999"/>
                <a:gd name="T30" fmla="*/ 2625 w 3431"/>
                <a:gd name="T31" fmla="*/ 76 h 2999"/>
                <a:gd name="T32" fmla="*/ 3015 w 3431"/>
                <a:gd name="T33" fmla="*/ 750 h 2999"/>
                <a:gd name="T34" fmla="*/ 3404 w 3431"/>
                <a:gd name="T35" fmla="*/ 1424 h 2999"/>
                <a:gd name="T36" fmla="*/ 3404 w 3431"/>
                <a:gd name="T37" fmla="*/ 1576 h 2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31" h="2999">
                  <a:moveTo>
                    <a:pt x="3404" y="1576"/>
                  </a:moveTo>
                  <a:lnTo>
                    <a:pt x="3015" y="2249"/>
                  </a:lnTo>
                  <a:lnTo>
                    <a:pt x="2625" y="2923"/>
                  </a:lnTo>
                  <a:cubicBezTo>
                    <a:pt x="2598" y="2972"/>
                    <a:pt x="2550" y="2999"/>
                    <a:pt x="2494" y="2999"/>
                  </a:cubicBezTo>
                  <a:lnTo>
                    <a:pt x="1716" y="2999"/>
                  </a:lnTo>
                  <a:lnTo>
                    <a:pt x="938" y="2999"/>
                  </a:lnTo>
                  <a:cubicBezTo>
                    <a:pt x="882" y="2999"/>
                    <a:pt x="834" y="2972"/>
                    <a:pt x="806" y="2923"/>
                  </a:cubicBezTo>
                  <a:lnTo>
                    <a:pt x="417" y="2249"/>
                  </a:lnTo>
                  <a:lnTo>
                    <a:pt x="28" y="1576"/>
                  </a:lnTo>
                  <a:cubicBezTo>
                    <a:pt x="0" y="1527"/>
                    <a:pt x="0" y="1472"/>
                    <a:pt x="28" y="1424"/>
                  </a:cubicBezTo>
                  <a:lnTo>
                    <a:pt x="417" y="750"/>
                  </a:lnTo>
                  <a:lnTo>
                    <a:pt x="806" y="76"/>
                  </a:lnTo>
                  <a:cubicBezTo>
                    <a:pt x="834" y="28"/>
                    <a:pt x="882" y="0"/>
                    <a:pt x="938" y="0"/>
                  </a:cubicBezTo>
                  <a:lnTo>
                    <a:pt x="1716" y="0"/>
                  </a:lnTo>
                  <a:lnTo>
                    <a:pt x="2494" y="0"/>
                  </a:lnTo>
                  <a:cubicBezTo>
                    <a:pt x="2550" y="0"/>
                    <a:pt x="2598" y="28"/>
                    <a:pt x="2625" y="76"/>
                  </a:cubicBezTo>
                  <a:lnTo>
                    <a:pt x="3015" y="750"/>
                  </a:lnTo>
                  <a:lnTo>
                    <a:pt x="3404" y="1424"/>
                  </a:lnTo>
                  <a:cubicBezTo>
                    <a:pt x="3431" y="1472"/>
                    <a:pt x="3431" y="1527"/>
                    <a:pt x="3404" y="1576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w="7938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51435" tIns="25718" rIns="51435" bIns="25718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TW" sz="27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endParaRPr lang="zh-CN" altLang="en-US" sz="27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43" name="组合 96">
            <a:extLst>
              <a:ext uri="{FF2B5EF4-FFF2-40B4-BE49-F238E27FC236}">
                <a16:creationId xmlns:a16="http://schemas.microsoft.com/office/drawing/2014/main" id="{6D11C5A7-BAFD-723C-5897-907258C62DD9}"/>
              </a:ext>
            </a:extLst>
          </p:cNvPr>
          <p:cNvGrpSpPr/>
          <p:nvPr/>
        </p:nvGrpSpPr>
        <p:grpSpPr>
          <a:xfrm>
            <a:off x="184857" y="3695090"/>
            <a:ext cx="679920" cy="577082"/>
            <a:chOff x="1881842" y="2656049"/>
            <a:chExt cx="2397222" cy="2093640"/>
          </a:xfrm>
          <a:effectLst/>
        </p:grpSpPr>
        <p:grpSp>
          <p:nvGrpSpPr>
            <p:cNvPr id="44" name="组合 97">
              <a:extLst>
                <a:ext uri="{FF2B5EF4-FFF2-40B4-BE49-F238E27FC236}">
                  <a16:creationId xmlns:a16="http://schemas.microsoft.com/office/drawing/2014/main" id="{CD05BC57-86BC-DB87-3F4B-87BE62E20E61}"/>
                </a:ext>
              </a:extLst>
            </p:cNvPr>
            <p:cNvGrpSpPr/>
            <p:nvPr/>
          </p:nvGrpSpPr>
          <p:grpSpPr>
            <a:xfrm>
              <a:off x="1881842" y="2656049"/>
              <a:ext cx="2397222" cy="2093640"/>
              <a:chOff x="1511944" y="2420246"/>
              <a:chExt cx="2627152" cy="2294453"/>
            </a:xfrm>
            <a:effectLst>
              <a:outerShdw blurRad="203200" dist="38100" dir="3780000" sx="103000" sy="103000" algn="t" rotWithShape="0">
                <a:prstClr val="black">
                  <a:alpha val="25000"/>
                </a:prstClr>
              </a:outerShdw>
            </a:effectLst>
          </p:grpSpPr>
          <p:sp>
            <p:nvSpPr>
              <p:cNvPr id="46" name="Freeform 6">
                <a:extLst>
                  <a:ext uri="{FF2B5EF4-FFF2-40B4-BE49-F238E27FC236}">
                    <a16:creationId xmlns:a16="http://schemas.microsoft.com/office/drawing/2014/main" id="{81F69A10-F236-A853-52B9-86DA93FE7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944" y="2420246"/>
                <a:ext cx="2627152" cy="2294453"/>
              </a:xfrm>
              <a:custGeom>
                <a:avLst/>
                <a:gdLst>
                  <a:gd name="T0" fmla="*/ 4479 w 4516"/>
                  <a:gd name="T1" fmla="*/ 2074 h 3947"/>
                  <a:gd name="T2" fmla="*/ 3967 w 4516"/>
                  <a:gd name="T3" fmla="*/ 2960 h 3947"/>
                  <a:gd name="T4" fmla="*/ 3455 w 4516"/>
                  <a:gd name="T5" fmla="*/ 3847 h 3947"/>
                  <a:gd name="T6" fmla="*/ 3282 w 4516"/>
                  <a:gd name="T7" fmla="*/ 3947 h 3947"/>
                  <a:gd name="T8" fmla="*/ 2258 w 4516"/>
                  <a:gd name="T9" fmla="*/ 3947 h 3947"/>
                  <a:gd name="T10" fmla="*/ 1234 w 4516"/>
                  <a:gd name="T11" fmla="*/ 3947 h 3947"/>
                  <a:gd name="T12" fmla="*/ 1061 w 4516"/>
                  <a:gd name="T13" fmla="*/ 3847 h 3947"/>
                  <a:gd name="T14" fmla="*/ 549 w 4516"/>
                  <a:gd name="T15" fmla="*/ 2960 h 3947"/>
                  <a:gd name="T16" fmla="*/ 37 w 4516"/>
                  <a:gd name="T17" fmla="*/ 2074 h 3947"/>
                  <a:gd name="T18" fmla="*/ 37 w 4516"/>
                  <a:gd name="T19" fmla="*/ 1874 h 3947"/>
                  <a:gd name="T20" fmla="*/ 549 w 4516"/>
                  <a:gd name="T21" fmla="*/ 987 h 3947"/>
                  <a:gd name="T22" fmla="*/ 1061 w 4516"/>
                  <a:gd name="T23" fmla="*/ 100 h 3947"/>
                  <a:gd name="T24" fmla="*/ 1234 w 4516"/>
                  <a:gd name="T25" fmla="*/ 0 h 3947"/>
                  <a:gd name="T26" fmla="*/ 2258 w 4516"/>
                  <a:gd name="T27" fmla="*/ 0 h 3947"/>
                  <a:gd name="T28" fmla="*/ 3282 w 4516"/>
                  <a:gd name="T29" fmla="*/ 0 h 3947"/>
                  <a:gd name="T30" fmla="*/ 3455 w 4516"/>
                  <a:gd name="T31" fmla="*/ 100 h 3947"/>
                  <a:gd name="T32" fmla="*/ 3967 w 4516"/>
                  <a:gd name="T33" fmla="*/ 987 h 3947"/>
                  <a:gd name="T34" fmla="*/ 4479 w 4516"/>
                  <a:gd name="T35" fmla="*/ 1874 h 3947"/>
                  <a:gd name="T36" fmla="*/ 4479 w 4516"/>
                  <a:gd name="T37" fmla="*/ 2074 h 3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16" h="3947">
                    <a:moveTo>
                      <a:pt x="4479" y="2074"/>
                    </a:moveTo>
                    <a:lnTo>
                      <a:pt x="3967" y="2960"/>
                    </a:lnTo>
                    <a:lnTo>
                      <a:pt x="3455" y="3847"/>
                    </a:lnTo>
                    <a:cubicBezTo>
                      <a:pt x="3418" y="3911"/>
                      <a:pt x="3355" y="3947"/>
                      <a:pt x="3282" y="3947"/>
                    </a:cubicBezTo>
                    <a:lnTo>
                      <a:pt x="2258" y="3947"/>
                    </a:lnTo>
                    <a:lnTo>
                      <a:pt x="1234" y="3947"/>
                    </a:lnTo>
                    <a:cubicBezTo>
                      <a:pt x="1160" y="3947"/>
                      <a:pt x="1097" y="3911"/>
                      <a:pt x="1061" y="3847"/>
                    </a:cubicBezTo>
                    <a:lnTo>
                      <a:pt x="549" y="2960"/>
                    </a:lnTo>
                    <a:lnTo>
                      <a:pt x="37" y="2074"/>
                    </a:lnTo>
                    <a:cubicBezTo>
                      <a:pt x="0" y="2010"/>
                      <a:pt x="0" y="1937"/>
                      <a:pt x="37" y="1874"/>
                    </a:cubicBezTo>
                    <a:lnTo>
                      <a:pt x="549" y="987"/>
                    </a:lnTo>
                    <a:lnTo>
                      <a:pt x="1061" y="100"/>
                    </a:lnTo>
                    <a:cubicBezTo>
                      <a:pt x="1097" y="36"/>
                      <a:pt x="1160" y="0"/>
                      <a:pt x="1234" y="0"/>
                    </a:cubicBezTo>
                    <a:lnTo>
                      <a:pt x="2258" y="0"/>
                    </a:lnTo>
                    <a:lnTo>
                      <a:pt x="3282" y="0"/>
                    </a:lnTo>
                    <a:cubicBezTo>
                      <a:pt x="3355" y="0"/>
                      <a:pt x="3418" y="36"/>
                      <a:pt x="3455" y="100"/>
                    </a:cubicBezTo>
                    <a:lnTo>
                      <a:pt x="3967" y="987"/>
                    </a:lnTo>
                    <a:lnTo>
                      <a:pt x="4479" y="1874"/>
                    </a:lnTo>
                    <a:cubicBezTo>
                      <a:pt x="4516" y="1937"/>
                      <a:pt x="4516" y="2010"/>
                      <a:pt x="4479" y="2074"/>
                    </a:cubicBezTo>
                    <a:close/>
                  </a:path>
                </a:pathLst>
              </a:custGeom>
              <a:solidFill>
                <a:schemeClr val="bg1"/>
              </a:solidFill>
              <a:ln w="7938" cap="flat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51435" tIns="25718" rIns="51435" bIns="25718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78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</a:endParaRPr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08588806-42A8-69D4-1B60-0ECD91520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4106" y="2431739"/>
                <a:ext cx="2602832" cy="2271469"/>
              </a:xfrm>
              <a:custGeom>
                <a:avLst/>
                <a:gdLst>
                  <a:gd name="T0" fmla="*/ 4479 w 4516"/>
                  <a:gd name="T1" fmla="*/ 2074 h 3947"/>
                  <a:gd name="T2" fmla="*/ 3967 w 4516"/>
                  <a:gd name="T3" fmla="*/ 2960 h 3947"/>
                  <a:gd name="T4" fmla="*/ 3455 w 4516"/>
                  <a:gd name="T5" fmla="*/ 3847 h 3947"/>
                  <a:gd name="T6" fmla="*/ 3282 w 4516"/>
                  <a:gd name="T7" fmla="*/ 3947 h 3947"/>
                  <a:gd name="T8" fmla="*/ 2258 w 4516"/>
                  <a:gd name="T9" fmla="*/ 3947 h 3947"/>
                  <a:gd name="T10" fmla="*/ 1234 w 4516"/>
                  <a:gd name="T11" fmla="*/ 3947 h 3947"/>
                  <a:gd name="T12" fmla="*/ 1061 w 4516"/>
                  <a:gd name="T13" fmla="*/ 3847 h 3947"/>
                  <a:gd name="T14" fmla="*/ 549 w 4516"/>
                  <a:gd name="T15" fmla="*/ 2960 h 3947"/>
                  <a:gd name="T16" fmla="*/ 37 w 4516"/>
                  <a:gd name="T17" fmla="*/ 2074 h 3947"/>
                  <a:gd name="T18" fmla="*/ 37 w 4516"/>
                  <a:gd name="T19" fmla="*/ 1874 h 3947"/>
                  <a:gd name="T20" fmla="*/ 549 w 4516"/>
                  <a:gd name="T21" fmla="*/ 987 h 3947"/>
                  <a:gd name="T22" fmla="*/ 1061 w 4516"/>
                  <a:gd name="T23" fmla="*/ 100 h 3947"/>
                  <a:gd name="T24" fmla="*/ 1234 w 4516"/>
                  <a:gd name="T25" fmla="*/ 0 h 3947"/>
                  <a:gd name="T26" fmla="*/ 2258 w 4516"/>
                  <a:gd name="T27" fmla="*/ 0 h 3947"/>
                  <a:gd name="T28" fmla="*/ 3282 w 4516"/>
                  <a:gd name="T29" fmla="*/ 0 h 3947"/>
                  <a:gd name="T30" fmla="*/ 3455 w 4516"/>
                  <a:gd name="T31" fmla="*/ 100 h 3947"/>
                  <a:gd name="T32" fmla="*/ 3967 w 4516"/>
                  <a:gd name="T33" fmla="*/ 987 h 3947"/>
                  <a:gd name="T34" fmla="*/ 4479 w 4516"/>
                  <a:gd name="T35" fmla="*/ 1874 h 3947"/>
                  <a:gd name="T36" fmla="*/ 4479 w 4516"/>
                  <a:gd name="T37" fmla="*/ 2074 h 3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16" h="3947">
                    <a:moveTo>
                      <a:pt x="4479" y="2074"/>
                    </a:moveTo>
                    <a:lnTo>
                      <a:pt x="3967" y="2960"/>
                    </a:lnTo>
                    <a:lnTo>
                      <a:pt x="3455" y="3847"/>
                    </a:lnTo>
                    <a:cubicBezTo>
                      <a:pt x="3418" y="3911"/>
                      <a:pt x="3355" y="3947"/>
                      <a:pt x="3282" y="3947"/>
                    </a:cubicBezTo>
                    <a:lnTo>
                      <a:pt x="2258" y="3947"/>
                    </a:lnTo>
                    <a:lnTo>
                      <a:pt x="1234" y="3947"/>
                    </a:lnTo>
                    <a:cubicBezTo>
                      <a:pt x="1160" y="3947"/>
                      <a:pt x="1097" y="3911"/>
                      <a:pt x="1061" y="3847"/>
                    </a:cubicBezTo>
                    <a:lnTo>
                      <a:pt x="549" y="2960"/>
                    </a:lnTo>
                    <a:lnTo>
                      <a:pt x="37" y="2074"/>
                    </a:lnTo>
                    <a:cubicBezTo>
                      <a:pt x="0" y="2010"/>
                      <a:pt x="0" y="1937"/>
                      <a:pt x="37" y="1874"/>
                    </a:cubicBezTo>
                    <a:lnTo>
                      <a:pt x="549" y="987"/>
                    </a:lnTo>
                    <a:lnTo>
                      <a:pt x="1061" y="100"/>
                    </a:lnTo>
                    <a:cubicBezTo>
                      <a:pt x="1097" y="36"/>
                      <a:pt x="1160" y="0"/>
                      <a:pt x="1234" y="0"/>
                    </a:cubicBezTo>
                    <a:lnTo>
                      <a:pt x="2258" y="0"/>
                    </a:lnTo>
                    <a:lnTo>
                      <a:pt x="3282" y="0"/>
                    </a:lnTo>
                    <a:cubicBezTo>
                      <a:pt x="3355" y="0"/>
                      <a:pt x="3418" y="36"/>
                      <a:pt x="3455" y="100"/>
                    </a:cubicBezTo>
                    <a:lnTo>
                      <a:pt x="3967" y="987"/>
                    </a:lnTo>
                    <a:lnTo>
                      <a:pt x="4479" y="1874"/>
                    </a:lnTo>
                    <a:cubicBezTo>
                      <a:pt x="4516" y="1937"/>
                      <a:pt x="4516" y="2010"/>
                      <a:pt x="4479" y="20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2000"/>
                      <a:lumOff val="18000"/>
                    </a:schemeClr>
                  </a:gs>
                  <a:gs pos="47000">
                    <a:srgbClr val="F5F5F5"/>
                  </a:gs>
                  <a:gs pos="100000">
                    <a:schemeClr val="bg1">
                      <a:lumMod val="95000"/>
                      <a:lumOff val="5000"/>
                    </a:schemeClr>
                  </a:gs>
                </a:gsLst>
                <a:lin ang="18900000" scaled="0"/>
              </a:gradFill>
              <a:ln w="7938" cap="flat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51435" tIns="25718" rIns="51435" bIns="25718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78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</a:endParaRPr>
              </a:p>
            </p:txBody>
          </p:sp>
        </p:grp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C48B70A2-A9A0-0E59-23C2-29A62C4E3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3523" y="2932555"/>
              <a:ext cx="1773860" cy="1540629"/>
            </a:xfrm>
            <a:custGeom>
              <a:avLst/>
              <a:gdLst>
                <a:gd name="T0" fmla="*/ 3404 w 3431"/>
                <a:gd name="T1" fmla="*/ 1576 h 2999"/>
                <a:gd name="T2" fmla="*/ 3015 w 3431"/>
                <a:gd name="T3" fmla="*/ 2249 h 2999"/>
                <a:gd name="T4" fmla="*/ 2625 w 3431"/>
                <a:gd name="T5" fmla="*/ 2923 h 2999"/>
                <a:gd name="T6" fmla="*/ 2494 w 3431"/>
                <a:gd name="T7" fmla="*/ 2999 h 2999"/>
                <a:gd name="T8" fmla="*/ 1716 w 3431"/>
                <a:gd name="T9" fmla="*/ 2999 h 2999"/>
                <a:gd name="T10" fmla="*/ 938 w 3431"/>
                <a:gd name="T11" fmla="*/ 2999 h 2999"/>
                <a:gd name="T12" fmla="*/ 806 w 3431"/>
                <a:gd name="T13" fmla="*/ 2923 h 2999"/>
                <a:gd name="T14" fmla="*/ 417 w 3431"/>
                <a:gd name="T15" fmla="*/ 2249 h 2999"/>
                <a:gd name="T16" fmla="*/ 28 w 3431"/>
                <a:gd name="T17" fmla="*/ 1576 h 2999"/>
                <a:gd name="T18" fmla="*/ 28 w 3431"/>
                <a:gd name="T19" fmla="*/ 1424 h 2999"/>
                <a:gd name="T20" fmla="*/ 417 w 3431"/>
                <a:gd name="T21" fmla="*/ 750 h 2999"/>
                <a:gd name="T22" fmla="*/ 806 w 3431"/>
                <a:gd name="T23" fmla="*/ 76 h 2999"/>
                <a:gd name="T24" fmla="*/ 938 w 3431"/>
                <a:gd name="T25" fmla="*/ 0 h 2999"/>
                <a:gd name="T26" fmla="*/ 1716 w 3431"/>
                <a:gd name="T27" fmla="*/ 0 h 2999"/>
                <a:gd name="T28" fmla="*/ 2494 w 3431"/>
                <a:gd name="T29" fmla="*/ 0 h 2999"/>
                <a:gd name="T30" fmla="*/ 2625 w 3431"/>
                <a:gd name="T31" fmla="*/ 76 h 2999"/>
                <a:gd name="T32" fmla="*/ 3015 w 3431"/>
                <a:gd name="T33" fmla="*/ 750 h 2999"/>
                <a:gd name="T34" fmla="*/ 3404 w 3431"/>
                <a:gd name="T35" fmla="*/ 1424 h 2999"/>
                <a:gd name="T36" fmla="*/ 3404 w 3431"/>
                <a:gd name="T37" fmla="*/ 1576 h 2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31" h="2999">
                  <a:moveTo>
                    <a:pt x="3404" y="1576"/>
                  </a:moveTo>
                  <a:lnTo>
                    <a:pt x="3015" y="2249"/>
                  </a:lnTo>
                  <a:lnTo>
                    <a:pt x="2625" y="2923"/>
                  </a:lnTo>
                  <a:cubicBezTo>
                    <a:pt x="2598" y="2972"/>
                    <a:pt x="2550" y="2999"/>
                    <a:pt x="2494" y="2999"/>
                  </a:cubicBezTo>
                  <a:lnTo>
                    <a:pt x="1716" y="2999"/>
                  </a:lnTo>
                  <a:lnTo>
                    <a:pt x="938" y="2999"/>
                  </a:lnTo>
                  <a:cubicBezTo>
                    <a:pt x="882" y="2999"/>
                    <a:pt x="834" y="2972"/>
                    <a:pt x="806" y="2923"/>
                  </a:cubicBezTo>
                  <a:lnTo>
                    <a:pt x="417" y="2249"/>
                  </a:lnTo>
                  <a:lnTo>
                    <a:pt x="28" y="1576"/>
                  </a:lnTo>
                  <a:cubicBezTo>
                    <a:pt x="0" y="1527"/>
                    <a:pt x="0" y="1472"/>
                    <a:pt x="28" y="1424"/>
                  </a:cubicBezTo>
                  <a:lnTo>
                    <a:pt x="417" y="750"/>
                  </a:lnTo>
                  <a:lnTo>
                    <a:pt x="806" y="76"/>
                  </a:lnTo>
                  <a:cubicBezTo>
                    <a:pt x="834" y="28"/>
                    <a:pt x="882" y="0"/>
                    <a:pt x="938" y="0"/>
                  </a:cubicBezTo>
                  <a:lnTo>
                    <a:pt x="1716" y="0"/>
                  </a:lnTo>
                  <a:lnTo>
                    <a:pt x="2494" y="0"/>
                  </a:lnTo>
                  <a:cubicBezTo>
                    <a:pt x="2550" y="0"/>
                    <a:pt x="2598" y="28"/>
                    <a:pt x="2625" y="76"/>
                  </a:cubicBezTo>
                  <a:lnTo>
                    <a:pt x="3015" y="750"/>
                  </a:lnTo>
                  <a:lnTo>
                    <a:pt x="3404" y="1424"/>
                  </a:lnTo>
                  <a:cubicBezTo>
                    <a:pt x="3431" y="1472"/>
                    <a:pt x="3431" y="1527"/>
                    <a:pt x="3404" y="1576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w="7938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51435" tIns="25718" rIns="51435" bIns="25718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TW" sz="27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  <a:endParaRPr lang="zh-CN" altLang="en-US" sz="27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242C442E-C10C-6A92-D754-7192E4206D31}"/>
              </a:ext>
            </a:extLst>
          </p:cNvPr>
          <p:cNvSpPr txBox="1"/>
          <p:nvPr/>
        </p:nvSpPr>
        <p:spPr>
          <a:xfrm>
            <a:off x="166479" y="181558"/>
            <a:ext cx="6133654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TW" altLang="zh-TW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提案內容與實踐方式</a:t>
            </a:r>
            <a:r>
              <a:rPr lang="en-US" altLang="zh-TW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28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持續迭代</a:t>
            </a:r>
            <a:r>
              <a:rPr lang="en-US" altLang="zh-TW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5D39F917-CFE1-0A10-0BDC-174D215016A8}"/>
              </a:ext>
            </a:extLst>
          </p:cNvPr>
          <p:cNvCxnSpPr/>
          <p:nvPr/>
        </p:nvCxnSpPr>
        <p:spPr>
          <a:xfrm>
            <a:off x="7620" y="609959"/>
            <a:ext cx="9144000" cy="0"/>
          </a:xfrm>
          <a:prstGeom prst="line">
            <a:avLst/>
          </a:prstGeom>
          <a:ln w="12700">
            <a:solidFill>
              <a:srgbClr val="FF0000">
                <a:alpha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圖片 21">
            <a:extLst>
              <a:ext uri="{FF2B5EF4-FFF2-40B4-BE49-F238E27FC236}">
                <a16:creationId xmlns:a16="http://schemas.microsoft.com/office/drawing/2014/main" id="{6A33D425-86DE-E9F0-083B-C9E2E6AE5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765" y="731024"/>
            <a:ext cx="2022795" cy="303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13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63BFE-1D6C-9B5E-68BE-86E2355B4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2FEE8A6-5298-AB64-D31D-94634EE65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593" y="821709"/>
            <a:ext cx="2901476" cy="1815882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C91CE293-F55C-9512-0D83-CE282205C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461" y="2655881"/>
            <a:ext cx="893799" cy="93616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4D0015B-5132-6082-D60A-FD38BBE0D8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57" y="4849485"/>
            <a:ext cx="470005" cy="274637"/>
          </a:xfrm>
        </p:spPr>
        <p:txBody>
          <a:bodyPr/>
          <a:lstStyle/>
          <a:p>
            <a:pPr algn="ctr"/>
            <a:fld id="{9C8A23C4-5B59-48EB-9166-D95BA49D025A}" type="slidenum">
              <a:rPr lang="zh-TW" altLang="en-US" smtClean="0"/>
              <a:pPr algn="ctr"/>
              <a:t>5</a:t>
            </a:fld>
            <a:endParaRPr 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C06D7EC2-9AC0-67CA-6F98-089F09CB6D48}"/>
              </a:ext>
            </a:extLst>
          </p:cNvPr>
          <p:cNvSpPr txBox="1">
            <a:spLocks/>
          </p:cNvSpPr>
          <p:nvPr/>
        </p:nvSpPr>
        <p:spPr>
          <a:xfrm>
            <a:off x="498462" y="784923"/>
            <a:ext cx="2345407" cy="44529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pPr algn="l"/>
            <a:r>
              <a:rPr lang="en-US" altLang="zh-TW" sz="3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TW" altLang="en-US" sz="3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使用體驗</a:t>
            </a:r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F29AEA87-EA9D-D864-6A98-1C547540D327}"/>
              </a:ext>
            </a:extLst>
          </p:cNvPr>
          <p:cNvSpPr>
            <a:spLocks/>
          </p:cNvSpPr>
          <p:nvPr/>
        </p:nvSpPr>
        <p:spPr bwMode="auto">
          <a:xfrm>
            <a:off x="871183" y="2753634"/>
            <a:ext cx="752411" cy="638608"/>
          </a:xfrm>
          <a:custGeom>
            <a:avLst/>
            <a:gdLst>
              <a:gd name="T0" fmla="*/ 4479 w 4516"/>
              <a:gd name="T1" fmla="*/ 2074 h 3947"/>
              <a:gd name="T2" fmla="*/ 3967 w 4516"/>
              <a:gd name="T3" fmla="*/ 2960 h 3947"/>
              <a:gd name="T4" fmla="*/ 3455 w 4516"/>
              <a:gd name="T5" fmla="*/ 3847 h 3947"/>
              <a:gd name="T6" fmla="*/ 3282 w 4516"/>
              <a:gd name="T7" fmla="*/ 3947 h 3947"/>
              <a:gd name="T8" fmla="*/ 2258 w 4516"/>
              <a:gd name="T9" fmla="*/ 3947 h 3947"/>
              <a:gd name="T10" fmla="*/ 1234 w 4516"/>
              <a:gd name="T11" fmla="*/ 3947 h 3947"/>
              <a:gd name="T12" fmla="*/ 1061 w 4516"/>
              <a:gd name="T13" fmla="*/ 3847 h 3947"/>
              <a:gd name="T14" fmla="*/ 549 w 4516"/>
              <a:gd name="T15" fmla="*/ 2960 h 3947"/>
              <a:gd name="T16" fmla="*/ 37 w 4516"/>
              <a:gd name="T17" fmla="*/ 2074 h 3947"/>
              <a:gd name="T18" fmla="*/ 37 w 4516"/>
              <a:gd name="T19" fmla="*/ 1874 h 3947"/>
              <a:gd name="T20" fmla="*/ 549 w 4516"/>
              <a:gd name="T21" fmla="*/ 987 h 3947"/>
              <a:gd name="T22" fmla="*/ 1061 w 4516"/>
              <a:gd name="T23" fmla="*/ 100 h 3947"/>
              <a:gd name="T24" fmla="*/ 1234 w 4516"/>
              <a:gd name="T25" fmla="*/ 0 h 3947"/>
              <a:gd name="T26" fmla="*/ 2258 w 4516"/>
              <a:gd name="T27" fmla="*/ 0 h 3947"/>
              <a:gd name="T28" fmla="*/ 3282 w 4516"/>
              <a:gd name="T29" fmla="*/ 0 h 3947"/>
              <a:gd name="T30" fmla="*/ 3455 w 4516"/>
              <a:gd name="T31" fmla="*/ 100 h 3947"/>
              <a:gd name="T32" fmla="*/ 3967 w 4516"/>
              <a:gd name="T33" fmla="*/ 987 h 3947"/>
              <a:gd name="T34" fmla="*/ 4479 w 4516"/>
              <a:gd name="T35" fmla="*/ 1874 h 3947"/>
              <a:gd name="T36" fmla="*/ 4479 w 4516"/>
              <a:gd name="T37" fmla="*/ 2074 h 39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516" h="3947">
                <a:moveTo>
                  <a:pt x="4479" y="2074"/>
                </a:moveTo>
                <a:lnTo>
                  <a:pt x="3967" y="2960"/>
                </a:lnTo>
                <a:lnTo>
                  <a:pt x="3455" y="3847"/>
                </a:lnTo>
                <a:cubicBezTo>
                  <a:pt x="3418" y="3911"/>
                  <a:pt x="3355" y="3947"/>
                  <a:pt x="3282" y="3947"/>
                </a:cubicBezTo>
                <a:lnTo>
                  <a:pt x="2258" y="3947"/>
                </a:lnTo>
                <a:lnTo>
                  <a:pt x="1234" y="3947"/>
                </a:lnTo>
                <a:cubicBezTo>
                  <a:pt x="1160" y="3947"/>
                  <a:pt x="1097" y="3911"/>
                  <a:pt x="1061" y="3847"/>
                </a:cubicBezTo>
                <a:lnTo>
                  <a:pt x="549" y="2960"/>
                </a:lnTo>
                <a:lnTo>
                  <a:pt x="37" y="2074"/>
                </a:lnTo>
                <a:cubicBezTo>
                  <a:pt x="0" y="2010"/>
                  <a:pt x="0" y="1937"/>
                  <a:pt x="37" y="1874"/>
                </a:cubicBezTo>
                <a:lnTo>
                  <a:pt x="549" y="987"/>
                </a:lnTo>
                <a:lnTo>
                  <a:pt x="1061" y="100"/>
                </a:lnTo>
                <a:cubicBezTo>
                  <a:pt x="1097" y="36"/>
                  <a:pt x="1160" y="0"/>
                  <a:pt x="1234" y="0"/>
                </a:cubicBezTo>
                <a:lnTo>
                  <a:pt x="2258" y="0"/>
                </a:lnTo>
                <a:lnTo>
                  <a:pt x="3282" y="0"/>
                </a:lnTo>
                <a:cubicBezTo>
                  <a:pt x="3355" y="0"/>
                  <a:pt x="3418" y="36"/>
                  <a:pt x="3455" y="100"/>
                </a:cubicBezTo>
                <a:lnTo>
                  <a:pt x="3967" y="987"/>
                </a:lnTo>
                <a:lnTo>
                  <a:pt x="4479" y="1874"/>
                </a:lnTo>
                <a:cubicBezTo>
                  <a:pt x="4516" y="1937"/>
                  <a:pt x="4516" y="2010"/>
                  <a:pt x="4479" y="2074"/>
                </a:cubicBezTo>
                <a:close/>
              </a:path>
            </a:pathLst>
          </a:custGeom>
          <a:solidFill>
            <a:schemeClr val="bg1"/>
          </a:solidFill>
          <a:ln w="7938" cap="flat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/>
          <a:p>
            <a:endParaRPr lang="zh-CN" altLang="en-US" sz="788" dirty="0"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B32FF476-BE14-E111-B4EA-AD57FB75236A}"/>
              </a:ext>
            </a:extLst>
          </p:cNvPr>
          <p:cNvCxnSpPr/>
          <p:nvPr/>
        </p:nvCxnSpPr>
        <p:spPr>
          <a:xfrm>
            <a:off x="0" y="752996"/>
            <a:ext cx="9144000" cy="0"/>
          </a:xfrm>
          <a:prstGeom prst="line">
            <a:avLst/>
          </a:prstGeom>
          <a:ln w="12700">
            <a:solidFill>
              <a:srgbClr val="FF0000">
                <a:alpha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5FDB5451-D37B-45D3-54AE-F9F6C1A3DA23}"/>
              </a:ext>
            </a:extLst>
          </p:cNvPr>
          <p:cNvSpPr txBox="1"/>
          <p:nvPr/>
        </p:nvSpPr>
        <p:spPr>
          <a:xfrm>
            <a:off x="-34813" y="341578"/>
            <a:ext cx="54266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TW" altLang="zh-TW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應用機會說明</a:t>
            </a:r>
            <a:r>
              <a:rPr lang="en-US" altLang="zh-TW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(</a:t>
            </a:r>
            <a:r>
              <a:rPr lang="zh-TW" altLang="en-US" sz="28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廠商物料管理助手</a:t>
            </a:r>
            <a:r>
              <a:rPr lang="en-US" altLang="zh-TW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CE5080E8-19DF-588A-0E7F-7512B8279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13" y="2986708"/>
            <a:ext cx="2059974" cy="1373316"/>
          </a:xfrm>
          <a:prstGeom prst="rect">
            <a:avLst/>
          </a:prstGeom>
        </p:spPr>
      </p:pic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4CAAE379-1305-E07A-E1C6-6564B5A62A6B}"/>
              </a:ext>
            </a:extLst>
          </p:cNvPr>
          <p:cNvCxnSpPr>
            <a:cxnSpLocks/>
          </p:cNvCxnSpPr>
          <p:nvPr/>
        </p:nvCxnSpPr>
        <p:spPr>
          <a:xfrm>
            <a:off x="4572000" y="763133"/>
            <a:ext cx="0" cy="411098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圖片 40">
            <a:extLst>
              <a:ext uri="{FF2B5EF4-FFF2-40B4-BE49-F238E27FC236}">
                <a16:creationId xmlns:a16="http://schemas.microsoft.com/office/drawing/2014/main" id="{5DA3B315-DA13-DE49-85B0-5C73D07C00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78" y="953083"/>
            <a:ext cx="2078533" cy="1385688"/>
          </a:xfrm>
          <a:prstGeom prst="rect">
            <a:avLst/>
          </a:prstGeom>
        </p:spPr>
      </p:pic>
      <p:sp>
        <p:nvSpPr>
          <p:cNvPr id="42" name="橢圓 41">
            <a:extLst>
              <a:ext uri="{FF2B5EF4-FFF2-40B4-BE49-F238E27FC236}">
                <a16:creationId xmlns:a16="http://schemas.microsoft.com/office/drawing/2014/main" id="{148C66F2-A57F-66E0-0B4D-5DBC8322012E}"/>
              </a:ext>
            </a:extLst>
          </p:cNvPr>
          <p:cNvSpPr/>
          <p:nvPr/>
        </p:nvSpPr>
        <p:spPr>
          <a:xfrm>
            <a:off x="4618068" y="1007570"/>
            <a:ext cx="464250" cy="428483"/>
          </a:xfrm>
          <a:prstGeom prst="ellipse">
            <a:avLst/>
          </a:prstGeom>
          <a:solidFill>
            <a:schemeClr val="accent6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TW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F8C94424-4E56-5EA5-46BE-CE0DB9BD236E}"/>
              </a:ext>
            </a:extLst>
          </p:cNvPr>
          <p:cNvSpPr/>
          <p:nvPr/>
        </p:nvSpPr>
        <p:spPr>
          <a:xfrm>
            <a:off x="159956" y="2905411"/>
            <a:ext cx="464250" cy="428483"/>
          </a:xfrm>
          <a:prstGeom prst="ellipse">
            <a:avLst/>
          </a:prstGeom>
          <a:solidFill>
            <a:srgbClr val="3366FF"/>
          </a:solidFill>
          <a:ln>
            <a:solidFill>
              <a:srgbClr val="69696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zh-TW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4A669B58-50C7-C075-A2B4-4A261943183B}"/>
              </a:ext>
            </a:extLst>
          </p:cNvPr>
          <p:cNvSpPr txBox="1"/>
          <p:nvPr/>
        </p:nvSpPr>
        <p:spPr>
          <a:xfrm>
            <a:off x="7213524" y="3625200"/>
            <a:ext cx="19142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zh-TW" altLang="en-US" sz="12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物料領料</a:t>
            </a:r>
            <a:r>
              <a:rPr lang="en-US" altLang="zh-TW" sz="12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sz="12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繳回</a:t>
            </a:r>
            <a:endParaRPr lang="en-US" altLang="zh-TW" sz="1200" b="1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TW" altLang="en-US" sz="12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自動記錄追蹤</a:t>
            </a:r>
            <a:endParaRPr lang="en-US" altLang="zh-TW" sz="1200" b="1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TW" sz="12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TW" altLang="en-US" sz="12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物料上站自動追蹤</a:t>
            </a:r>
            <a:endParaRPr lang="en-US" altLang="zh-TW" sz="1200" b="1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600" indent="-228600">
              <a:buAutoNum type="arabicPeriod" startAt="3"/>
            </a:pPr>
            <a:r>
              <a:rPr lang="zh-TW" altLang="en-US" sz="12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物料驗收流程自動  </a:t>
            </a:r>
            <a:endParaRPr lang="en-US" altLang="zh-TW" sz="1200" b="1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TW" altLang="en-US" sz="12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追蹤</a:t>
            </a:r>
            <a:endParaRPr lang="en-US" altLang="zh-TW" sz="1200" b="1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HK" sz="12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   </a:t>
            </a:r>
            <a:r>
              <a:rPr lang="zh-TW" altLang="en-US" sz="12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自動產生管理報表</a:t>
            </a:r>
            <a:endParaRPr lang="zh-HK" altLang="en-US" sz="1200" b="1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F4D71D19-5921-D968-34BA-E9A099FA97F8}"/>
              </a:ext>
            </a:extLst>
          </p:cNvPr>
          <p:cNvSpPr/>
          <p:nvPr/>
        </p:nvSpPr>
        <p:spPr>
          <a:xfrm>
            <a:off x="2962299" y="1977974"/>
            <a:ext cx="464250" cy="428483"/>
          </a:xfrm>
          <a:prstGeom prst="ellipse">
            <a:avLst/>
          </a:prstGeom>
          <a:solidFill>
            <a:srgbClr val="3366FF"/>
          </a:solidFill>
          <a:ln>
            <a:solidFill>
              <a:srgbClr val="69696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zh-TW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28D9C21-ED65-C57F-645B-BFF3DFD0752D}"/>
              </a:ext>
            </a:extLst>
          </p:cNvPr>
          <p:cNvSpPr txBox="1"/>
          <p:nvPr/>
        </p:nvSpPr>
        <p:spPr>
          <a:xfrm>
            <a:off x="585029" y="2349307"/>
            <a:ext cx="2053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廠商寄信</a:t>
            </a:r>
            <a:r>
              <a:rPr lang="en-US" altLang="zh-TW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新物料一批清單如附件</a:t>
            </a:r>
            <a:endParaRPr lang="zh-HK" altLang="en-US" sz="1400" b="1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6869442B-45CF-7B68-9B47-7B5BC5B70E6D}"/>
              </a:ext>
            </a:extLst>
          </p:cNvPr>
          <p:cNvSpPr txBox="1"/>
          <p:nvPr/>
        </p:nvSpPr>
        <p:spPr>
          <a:xfrm>
            <a:off x="585028" y="4368003"/>
            <a:ext cx="2053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工程師拍照後領走物料記錄在</a:t>
            </a:r>
            <a:r>
              <a:rPr lang="en-US" altLang="zh-TW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LINE</a:t>
            </a:r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</a:t>
            </a:r>
            <a:endParaRPr lang="zh-HK" altLang="en-US" sz="1400" b="1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800B4F7A-82A9-A3AF-B73C-B565D9BB190B}"/>
              </a:ext>
            </a:extLst>
          </p:cNvPr>
          <p:cNvSpPr txBox="1"/>
          <p:nvPr/>
        </p:nvSpPr>
        <p:spPr>
          <a:xfrm>
            <a:off x="3633226" y="761910"/>
            <a:ext cx="931010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TW" sz="1400" b="1" i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Before</a:t>
            </a:r>
            <a:endParaRPr lang="zh-TW" altLang="en-US" sz="1400" b="1" i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E3755B4D-66E0-7E0F-1D3C-3AA9C03DCEF7}"/>
              </a:ext>
            </a:extLst>
          </p:cNvPr>
          <p:cNvSpPr txBox="1"/>
          <p:nvPr/>
        </p:nvSpPr>
        <p:spPr>
          <a:xfrm>
            <a:off x="8328663" y="761911"/>
            <a:ext cx="812846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TW" sz="1400" b="1" i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After</a:t>
            </a:r>
            <a:endParaRPr lang="zh-TW" altLang="en-US" sz="1400" b="1" i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22B3C569-FB2E-AA0C-C21C-61CB6894F17B}"/>
              </a:ext>
            </a:extLst>
          </p:cNvPr>
          <p:cNvSpPr/>
          <p:nvPr/>
        </p:nvSpPr>
        <p:spPr>
          <a:xfrm>
            <a:off x="104408" y="1039396"/>
            <a:ext cx="464250" cy="428483"/>
          </a:xfrm>
          <a:prstGeom prst="ellipse">
            <a:avLst/>
          </a:prstGeom>
          <a:solidFill>
            <a:srgbClr val="3366FF"/>
          </a:solidFill>
          <a:ln>
            <a:solidFill>
              <a:srgbClr val="69696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TW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9" name="圖片 68">
            <a:extLst>
              <a:ext uri="{FF2B5EF4-FFF2-40B4-BE49-F238E27FC236}">
                <a16:creationId xmlns:a16="http://schemas.microsoft.com/office/drawing/2014/main" id="{09E8B7D6-622E-9DC9-5F74-6479BA50B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2318" y="2979259"/>
            <a:ext cx="2000417" cy="1333612"/>
          </a:xfrm>
          <a:prstGeom prst="rect">
            <a:avLst/>
          </a:prstGeom>
        </p:spPr>
      </p:pic>
      <p:sp>
        <p:nvSpPr>
          <p:cNvPr id="70" name="橢圓 69">
            <a:extLst>
              <a:ext uri="{FF2B5EF4-FFF2-40B4-BE49-F238E27FC236}">
                <a16:creationId xmlns:a16="http://schemas.microsoft.com/office/drawing/2014/main" id="{5F05F645-D06D-00D9-12E3-555168E6D335}"/>
              </a:ext>
            </a:extLst>
          </p:cNvPr>
          <p:cNvSpPr/>
          <p:nvPr/>
        </p:nvSpPr>
        <p:spPr>
          <a:xfrm>
            <a:off x="4665735" y="2909365"/>
            <a:ext cx="464250" cy="428483"/>
          </a:xfrm>
          <a:prstGeom prst="ellipse">
            <a:avLst/>
          </a:prstGeom>
          <a:solidFill>
            <a:schemeClr val="accent6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zh-TW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DDA02CA7-34C4-9367-759D-604F33F5CD50}"/>
              </a:ext>
            </a:extLst>
          </p:cNvPr>
          <p:cNvSpPr/>
          <p:nvPr/>
        </p:nvSpPr>
        <p:spPr>
          <a:xfrm>
            <a:off x="7051304" y="2395424"/>
            <a:ext cx="464250" cy="428483"/>
          </a:xfrm>
          <a:prstGeom prst="ellipse">
            <a:avLst/>
          </a:prstGeom>
          <a:solidFill>
            <a:schemeClr val="accent6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zh-TW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908A10E8-A651-7756-460F-55B5AE74A84C}"/>
              </a:ext>
            </a:extLst>
          </p:cNvPr>
          <p:cNvSpPr txBox="1"/>
          <p:nvPr/>
        </p:nvSpPr>
        <p:spPr>
          <a:xfrm>
            <a:off x="4552603" y="2254902"/>
            <a:ext cx="2554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TW" altLang="en-US" sz="11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自動將</a:t>
            </a:r>
            <a:r>
              <a:rPr lang="en-US" altLang="zh-TW" sz="11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e-mail </a:t>
            </a:r>
            <a:r>
              <a:rPr lang="zh-TW" altLang="en-US" sz="11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物料清單</a:t>
            </a:r>
            <a:r>
              <a:rPr lang="zh-TW" altLang="en-US" sz="11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寫入資料庫</a:t>
            </a:r>
            <a:endParaRPr lang="zh-HK" altLang="en-US" sz="1100" b="1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AE959495-658E-AECC-F932-693084F3C6B9}"/>
              </a:ext>
            </a:extLst>
          </p:cNvPr>
          <p:cNvSpPr txBox="1"/>
          <p:nvPr/>
        </p:nvSpPr>
        <p:spPr>
          <a:xfrm>
            <a:off x="4687075" y="4302258"/>
            <a:ext cx="24422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工程師領料時將</a:t>
            </a:r>
            <a:r>
              <a:rPr lang="zh-TW" altLang="en-US" sz="14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料號</a:t>
            </a:r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上傳</a:t>
            </a:r>
            <a:r>
              <a:rPr lang="en-US" altLang="zh-TW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Teams</a:t>
            </a:r>
            <a:endParaRPr lang="zh-HK" altLang="en-US" sz="1400" b="1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241570C9-DA7B-E1CB-8048-B7E404F080E7}"/>
              </a:ext>
            </a:extLst>
          </p:cNvPr>
          <p:cNvSpPr txBox="1"/>
          <p:nvPr/>
        </p:nvSpPr>
        <p:spPr>
          <a:xfrm>
            <a:off x="3418244" y="2085625"/>
            <a:ext cx="862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然後呢</a:t>
            </a:r>
            <a:r>
              <a:rPr lang="en-US" altLang="zh-TW" sz="1600" b="1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  <a:endParaRPr lang="zh-HK" altLang="en-US" sz="1600" b="1" i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CE6CE6-EE8B-F3CE-41AD-C63E708F9F7A}"/>
              </a:ext>
            </a:extLst>
          </p:cNvPr>
          <p:cNvSpPr txBox="1"/>
          <p:nvPr/>
        </p:nvSpPr>
        <p:spPr>
          <a:xfrm>
            <a:off x="2925004" y="2486376"/>
            <a:ext cx="16663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物料去哪 </a:t>
            </a:r>
            <a:r>
              <a:rPr lang="en-US" altLang="zh-TW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</a:p>
          <a:p>
            <a:pPr marL="342900" indent="-342900">
              <a:buFontTx/>
              <a:buAutoNum type="arabicPeriod"/>
            </a:pPr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物料有沒上站</a:t>
            </a:r>
            <a:endParaRPr lang="en-US" altLang="zh-TW" sz="1400" b="1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Tx/>
              <a:buAutoNum type="arabicPeriod"/>
            </a:pPr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沒裝想歸還怎麼辦 </a:t>
            </a:r>
            <a:r>
              <a:rPr lang="en-US" altLang="zh-TW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</a:p>
          <a:p>
            <a:pPr marL="342900" indent="-342900">
              <a:buFontTx/>
              <a:buAutoNum type="arabicPeriod"/>
            </a:pPr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無人知曉物料是否驗收</a:t>
            </a:r>
            <a:r>
              <a:rPr lang="en-US" altLang="zh-TW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</a:p>
          <a:p>
            <a:pPr marL="342900" indent="-342900">
              <a:buFontTx/>
              <a:buAutoNum type="arabicPeriod"/>
            </a:pPr>
            <a:r>
              <a:rPr lang="en-US" altLang="zh-HK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LINE</a:t>
            </a:r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不易搜尋歷史統計管理</a:t>
            </a:r>
            <a:endParaRPr lang="zh-HK" altLang="en-US" sz="1400" b="1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E216FF1-78DB-108D-72EF-C4E54E8C090F}"/>
              </a:ext>
            </a:extLst>
          </p:cNvPr>
          <p:cNvSpPr txBox="1"/>
          <p:nvPr/>
        </p:nvSpPr>
        <p:spPr>
          <a:xfrm>
            <a:off x="5376546" y="473813"/>
            <a:ext cx="30964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自動化完成廠商物料閉環管理流程</a:t>
            </a:r>
            <a:endParaRPr lang="en-US" altLang="zh-TW" sz="1050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87B1E93-0454-B61D-F16E-6A897C33BF53}"/>
              </a:ext>
            </a:extLst>
          </p:cNvPr>
          <p:cNvSpPr txBox="1"/>
          <p:nvPr/>
        </p:nvSpPr>
        <p:spPr>
          <a:xfrm>
            <a:off x="7689870" y="2218980"/>
            <a:ext cx="11152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Agent</a:t>
            </a:r>
            <a:r>
              <a:rPr lang="zh-TW" altLang="en-US" sz="14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4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  <a:p>
            <a:r>
              <a:rPr lang="zh-TW" altLang="en-US" sz="14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我來處理 </a:t>
            </a:r>
            <a:r>
              <a:rPr lang="en-US" altLang="zh-TW" sz="14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!</a:t>
            </a:r>
            <a:endParaRPr lang="zh-HK" altLang="en-US" sz="1400" b="1" i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1" name="接點: 弧形 10">
            <a:extLst>
              <a:ext uri="{FF2B5EF4-FFF2-40B4-BE49-F238E27FC236}">
                <a16:creationId xmlns:a16="http://schemas.microsoft.com/office/drawing/2014/main" id="{9C62AA0A-3F7D-6384-DA1F-7D4A05D47F49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8255069" y="1729650"/>
            <a:ext cx="393191" cy="685919"/>
          </a:xfrm>
          <a:prstGeom prst="curvedConnector2">
            <a:avLst/>
          </a:prstGeom>
          <a:ln w="28575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接點: 弧形 11">
            <a:extLst>
              <a:ext uri="{FF2B5EF4-FFF2-40B4-BE49-F238E27FC236}">
                <a16:creationId xmlns:a16="http://schemas.microsoft.com/office/drawing/2014/main" id="{516F7F5D-667E-7E6C-5C4F-DADAF7DFEFD0}"/>
              </a:ext>
            </a:extLst>
          </p:cNvPr>
          <p:cNvCxnSpPr>
            <a:cxnSpLocks/>
            <a:stCxn id="69" idx="3"/>
            <a:endCxn id="77" idx="1"/>
          </p:cNvCxnSpPr>
          <p:nvPr/>
        </p:nvCxnSpPr>
        <p:spPr>
          <a:xfrm flipV="1">
            <a:off x="7082735" y="3123966"/>
            <a:ext cx="671726" cy="522099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47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0AA2D984-F038-FB29-A8BA-256C5C65A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" y="1525723"/>
            <a:ext cx="1924577" cy="2372821"/>
          </a:xfrm>
          <a:prstGeom prst="rect">
            <a:avLst/>
          </a:prstGeom>
        </p:spPr>
      </p:pic>
      <p:pic>
        <p:nvPicPr>
          <p:cNvPr id="1026" name="Picture 2" descr="n8n - 維基百科，自由的百科全書">
            <a:extLst>
              <a:ext uri="{FF2B5EF4-FFF2-40B4-BE49-F238E27FC236}">
                <a16:creationId xmlns:a16="http://schemas.microsoft.com/office/drawing/2014/main" id="{13679AED-9415-671B-AADD-FD744E03F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493" y="3802464"/>
            <a:ext cx="1917623" cy="7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6AB799-1273-5F47-00FA-F11A92805F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-30480" y="4855464"/>
            <a:ext cx="470005" cy="274637"/>
          </a:xfrm>
        </p:spPr>
        <p:txBody>
          <a:bodyPr/>
          <a:lstStyle/>
          <a:p>
            <a:pPr algn="ctr"/>
            <a:fld id="{9C8A23C4-5B59-48EB-9166-D95BA49D025A}" type="slidenum">
              <a:rPr lang="zh-TW" altLang="en-US" smtClean="0"/>
              <a:pPr algn="ctr"/>
              <a:t>6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F1ACC74-6FB8-215A-3F22-173BF86B227F}"/>
              </a:ext>
            </a:extLst>
          </p:cNvPr>
          <p:cNvSpPr txBox="1"/>
          <p:nvPr/>
        </p:nvSpPr>
        <p:spPr>
          <a:xfrm>
            <a:off x="377011" y="1303632"/>
            <a:ext cx="15327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手機 </a:t>
            </a:r>
            <a:r>
              <a:rPr lang="en-US" altLang="zh-TW" sz="12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Teams </a:t>
            </a:r>
            <a:r>
              <a:rPr lang="zh-TW" altLang="en-US" sz="12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拍照</a:t>
            </a:r>
            <a:endParaRPr lang="en-US" altLang="zh-TW" sz="120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TW" altLang="en-US" sz="12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資產 料號 </a:t>
            </a:r>
            <a:r>
              <a:rPr lang="en-US" altLang="zh-TW" sz="12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or </a:t>
            </a:r>
            <a:r>
              <a:rPr lang="zh-TW" altLang="en-US" sz="12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序號</a:t>
            </a:r>
            <a:endParaRPr lang="zh-TW" altLang="en-US" sz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3" name="圖片 12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E9A4105C-CB2C-D9A9-B99A-B68E2EE480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725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5084" y="1197495"/>
            <a:ext cx="4671047" cy="2230143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39000"/>
              </a:schemeClr>
            </a:outerShdw>
          </a:effectLst>
        </p:spPr>
      </p:pic>
      <p:sp>
        <p:nvSpPr>
          <p:cNvPr id="19" name="語音泡泡: 圓角矩形 18">
            <a:extLst>
              <a:ext uri="{FF2B5EF4-FFF2-40B4-BE49-F238E27FC236}">
                <a16:creationId xmlns:a16="http://schemas.microsoft.com/office/drawing/2014/main" id="{03FCD2D4-98D4-8931-0490-92EFDE9CE3D4}"/>
              </a:ext>
            </a:extLst>
          </p:cNvPr>
          <p:cNvSpPr/>
          <p:nvPr/>
        </p:nvSpPr>
        <p:spPr>
          <a:xfrm>
            <a:off x="1849622" y="2384285"/>
            <a:ext cx="1782345" cy="853503"/>
          </a:xfrm>
          <a:custGeom>
            <a:avLst/>
            <a:gdLst>
              <a:gd name="csX0" fmla="*/ 0 w 1782345"/>
              <a:gd name="csY0" fmla="*/ 142253 h 853503"/>
              <a:gd name="csX1" fmla="*/ 142253 w 1782345"/>
              <a:gd name="csY1" fmla="*/ 0 h 853503"/>
              <a:gd name="csX2" fmla="*/ 297058 w 1782345"/>
              <a:gd name="csY2" fmla="*/ 0 h 853503"/>
              <a:gd name="csX3" fmla="*/ 887251 w 1782345"/>
              <a:gd name="csY3" fmla="*/ -196929 h 853503"/>
              <a:gd name="csX4" fmla="*/ 742644 w 1782345"/>
              <a:gd name="csY4" fmla="*/ 0 h 853503"/>
              <a:gd name="csX5" fmla="*/ 1173419 w 1782345"/>
              <a:gd name="csY5" fmla="*/ 0 h 853503"/>
              <a:gd name="csX6" fmla="*/ 1640092 w 1782345"/>
              <a:gd name="csY6" fmla="*/ 0 h 853503"/>
              <a:gd name="csX7" fmla="*/ 1782345 w 1782345"/>
              <a:gd name="csY7" fmla="*/ 142253 h 853503"/>
              <a:gd name="csX8" fmla="*/ 1782345 w 1782345"/>
              <a:gd name="csY8" fmla="*/ 142251 h 853503"/>
              <a:gd name="csX9" fmla="*/ 1782345 w 1782345"/>
              <a:gd name="csY9" fmla="*/ 142251 h 853503"/>
              <a:gd name="csX10" fmla="*/ 1782345 w 1782345"/>
              <a:gd name="csY10" fmla="*/ 355626 h 853503"/>
              <a:gd name="csX11" fmla="*/ 1782345 w 1782345"/>
              <a:gd name="csY11" fmla="*/ 711250 h 853503"/>
              <a:gd name="csX12" fmla="*/ 1640092 w 1782345"/>
              <a:gd name="csY12" fmla="*/ 853503 h 853503"/>
              <a:gd name="csX13" fmla="*/ 1173419 w 1782345"/>
              <a:gd name="csY13" fmla="*/ 853503 h 853503"/>
              <a:gd name="csX14" fmla="*/ 742644 w 1782345"/>
              <a:gd name="csY14" fmla="*/ 853503 h 853503"/>
              <a:gd name="csX15" fmla="*/ 297058 w 1782345"/>
              <a:gd name="csY15" fmla="*/ 853503 h 853503"/>
              <a:gd name="csX16" fmla="*/ 297058 w 1782345"/>
              <a:gd name="csY16" fmla="*/ 853503 h 853503"/>
              <a:gd name="csX17" fmla="*/ 142253 w 1782345"/>
              <a:gd name="csY17" fmla="*/ 853503 h 853503"/>
              <a:gd name="csX18" fmla="*/ 0 w 1782345"/>
              <a:gd name="csY18" fmla="*/ 711250 h 853503"/>
              <a:gd name="csX19" fmla="*/ 0 w 1782345"/>
              <a:gd name="csY19" fmla="*/ 355626 h 853503"/>
              <a:gd name="csX20" fmla="*/ 0 w 1782345"/>
              <a:gd name="csY20" fmla="*/ 142251 h 853503"/>
              <a:gd name="csX21" fmla="*/ 0 w 1782345"/>
              <a:gd name="csY21" fmla="*/ 142251 h 853503"/>
              <a:gd name="csX22" fmla="*/ 0 w 1782345"/>
              <a:gd name="csY22" fmla="*/ 142253 h 8535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782345" h="853503" extrusionOk="0">
                <a:moveTo>
                  <a:pt x="0" y="142253"/>
                </a:moveTo>
                <a:cubicBezTo>
                  <a:pt x="-10523" y="57198"/>
                  <a:pt x="52815" y="4081"/>
                  <a:pt x="142253" y="0"/>
                </a:cubicBezTo>
                <a:cubicBezTo>
                  <a:pt x="186654" y="-741"/>
                  <a:pt x="238152" y="7205"/>
                  <a:pt x="297058" y="0"/>
                </a:cubicBezTo>
                <a:cubicBezTo>
                  <a:pt x="481826" y="-78024"/>
                  <a:pt x="710052" y="-117337"/>
                  <a:pt x="887251" y="-196929"/>
                </a:cubicBezTo>
                <a:cubicBezTo>
                  <a:pt x="829536" y="-107320"/>
                  <a:pt x="800467" y="-78726"/>
                  <a:pt x="742644" y="0"/>
                </a:cubicBezTo>
                <a:cubicBezTo>
                  <a:pt x="882457" y="5692"/>
                  <a:pt x="1015725" y="20043"/>
                  <a:pt x="1173419" y="0"/>
                </a:cubicBezTo>
                <a:cubicBezTo>
                  <a:pt x="1331114" y="-20043"/>
                  <a:pt x="1444215" y="-12232"/>
                  <a:pt x="1640092" y="0"/>
                </a:cubicBezTo>
                <a:cubicBezTo>
                  <a:pt x="1716214" y="4040"/>
                  <a:pt x="1777900" y="58533"/>
                  <a:pt x="1782345" y="142253"/>
                </a:cubicBezTo>
                <a:lnTo>
                  <a:pt x="1782345" y="142251"/>
                </a:lnTo>
                <a:lnTo>
                  <a:pt x="1782345" y="142251"/>
                </a:lnTo>
                <a:cubicBezTo>
                  <a:pt x="1777411" y="239597"/>
                  <a:pt x="1781013" y="268151"/>
                  <a:pt x="1782345" y="355626"/>
                </a:cubicBezTo>
                <a:cubicBezTo>
                  <a:pt x="1785131" y="473944"/>
                  <a:pt x="1799079" y="591546"/>
                  <a:pt x="1782345" y="711250"/>
                </a:cubicBezTo>
                <a:cubicBezTo>
                  <a:pt x="1797512" y="780034"/>
                  <a:pt x="1705848" y="850226"/>
                  <a:pt x="1640092" y="853503"/>
                </a:cubicBezTo>
                <a:cubicBezTo>
                  <a:pt x="1454869" y="840584"/>
                  <a:pt x="1364032" y="835378"/>
                  <a:pt x="1173419" y="853503"/>
                </a:cubicBezTo>
                <a:cubicBezTo>
                  <a:pt x="982806" y="871628"/>
                  <a:pt x="846875" y="841424"/>
                  <a:pt x="742644" y="853503"/>
                </a:cubicBezTo>
                <a:cubicBezTo>
                  <a:pt x="625179" y="837159"/>
                  <a:pt x="402645" y="863201"/>
                  <a:pt x="297058" y="853503"/>
                </a:cubicBezTo>
                <a:lnTo>
                  <a:pt x="297058" y="853503"/>
                </a:lnTo>
                <a:cubicBezTo>
                  <a:pt x="227932" y="860287"/>
                  <a:pt x="194925" y="848761"/>
                  <a:pt x="142253" y="853503"/>
                </a:cubicBezTo>
                <a:cubicBezTo>
                  <a:pt x="55317" y="853848"/>
                  <a:pt x="5966" y="779060"/>
                  <a:pt x="0" y="711250"/>
                </a:cubicBezTo>
                <a:cubicBezTo>
                  <a:pt x="-12956" y="614384"/>
                  <a:pt x="9589" y="522112"/>
                  <a:pt x="0" y="355626"/>
                </a:cubicBezTo>
                <a:cubicBezTo>
                  <a:pt x="224" y="290723"/>
                  <a:pt x="8790" y="196320"/>
                  <a:pt x="0" y="142251"/>
                </a:cubicBezTo>
                <a:lnTo>
                  <a:pt x="0" y="142251"/>
                </a:lnTo>
                <a:lnTo>
                  <a:pt x="0" y="142253"/>
                </a:lnTo>
                <a:close/>
              </a:path>
            </a:pathLst>
          </a:custGeom>
          <a:noFill/>
          <a:ln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wedgeRoundRectCallout">
                    <a:avLst>
                      <a:gd name="adj1" fmla="val -220"/>
                      <a:gd name="adj2" fmla="val -73073"/>
                      <a:gd name="adj3" fmla="val 1666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n8n</a:t>
            </a:r>
            <a:r>
              <a:rPr lang="zh-TW" altLang="en-US" sz="1400" b="1" i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多模態分析</a:t>
            </a:r>
            <a:r>
              <a:rPr lang="zh-TW" altLang="en-US" sz="14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圖片或文字</a:t>
            </a:r>
            <a:endParaRPr lang="en-US" altLang="zh-TW" sz="1400" b="1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盤點模式</a:t>
            </a:r>
            <a:endParaRPr lang="en-US" altLang="zh-TW" sz="11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查詢模式</a:t>
            </a:r>
            <a:endParaRPr lang="zh-TW" altLang="en-US" sz="1100" b="1" i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5C0F5AB8-C166-FA98-A960-29AC529A09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0685" y="911001"/>
            <a:ext cx="2270800" cy="12420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3" name="文字方塊 32">
            <a:extLst>
              <a:ext uri="{FF2B5EF4-FFF2-40B4-BE49-F238E27FC236}">
                <a16:creationId xmlns:a16="http://schemas.microsoft.com/office/drawing/2014/main" id="{801105D2-B862-5B11-5F67-00F174093CE8}"/>
              </a:ext>
            </a:extLst>
          </p:cNvPr>
          <p:cNvSpPr txBox="1"/>
          <p:nvPr/>
        </p:nvSpPr>
        <p:spPr>
          <a:xfrm>
            <a:off x="7265239" y="989836"/>
            <a:ext cx="17903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zh-TW" altLang="en-US" sz="1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場景</a:t>
            </a:r>
            <a:r>
              <a:rPr lang="en-US" altLang="zh-TW" sz="1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1:</a:t>
            </a:r>
          </a:p>
          <a:p>
            <a:r>
              <a:rPr lang="zh-TW" altLang="en-US" sz="1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最多支援一次盤點</a:t>
            </a:r>
            <a:r>
              <a:rPr lang="en-US" altLang="zh-TW" sz="1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1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張卡板</a:t>
            </a:r>
            <a:r>
              <a:rPr lang="en-US" altLang="zh-TW" sz="1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(15</a:t>
            </a:r>
            <a:r>
              <a:rPr lang="zh-TW" altLang="en-US" sz="1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分鐘</a:t>
            </a:r>
            <a:r>
              <a:rPr lang="en-US" altLang="zh-TW" sz="1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-&gt;40</a:t>
            </a:r>
            <a:r>
              <a:rPr lang="zh-TW" altLang="en-US" sz="1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  <a:r>
              <a:rPr lang="en-US" altLang="zh-TW" sz="1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200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2" name="圖片 41">
            <a:extLst>
              <a:ext uri="{FF2B5EF4-FFF2-40B4-BE49-F238E27FC236}">
                <a16:creationId xmlns:a16="http://schemas.microsoft.com/office/drawing/2014/main" id="{E68869A5-A6BD-ED8E-172F-A0F1286851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8722" y="2219788"/>
            <a:ext cx="2213619" cy="13460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B17C4578-0503-6F5E-491E-23A2152C49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8658" y="3679378"/>
            <a:ext cx="2298154" cy="11307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5" name="文字方塊 44">
            <a:extLst>
              <a:ext uri="{FF2B5EF4-FFF2-40B4-BE49-F238E27FC236}">
                <a16:creationId xmlns:a16="http://schemas.microsoft.com/office/drawing/2014/main" id="{372EE95A-FD03-6F23-E897-8FA7B1DB0BF5}"/>
              </a:ext>
            </a:extLst>
          </p:cNvPr>
          <p:cNvSpPr txBox="1"/>
          <p:nvPr/>
        </p:nvSpPr>
        <p:spPr>
          <a:xfrm>
            <a:off x="6718682" y="2229556"/>
            <a:ext cx="2459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場景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2:</a:t>
            </a:r>
          </a:p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也可單張卡板盤點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系統顯示盤點結果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912746AF-8428-F6D6-E217-42E9AB7DDA47}"/>
              </a:ext>
            </a:extLst>
          </p:cNvPr>
          <p:cNvSpPr txBox="1"/>
          <p:nvPr/>
        </p:nvSpPr>
        <p:spPr>
          <a:xfrm>
            <a:off x="6349484" y="3704125"/>
            <a:ext cx="1731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場景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3:</a:t>
            </a:r>
          </a:p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</a:t>
            </a:r>
            <a:r>
              <a:rPr lang="zh-TW" altLang="en-US" sz="1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帳料不符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會再提醒工程師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B15BFC9E-F850-D570-88E2-07F7D636DA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7602" y="3862870"/>
            <a:ext cx="422365" cy="589088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1BEE19E2-3DB3-AE39-4109-B79230B0F1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4442" y="3477125"/>
            <a:ext cx="2130266" cy="13605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1" name="文字方塊 50">
            <a:extLst>
              <a:ext uri="{FF2B5EF4-FFF2-40B4-BE49-F238E27FC236}">
                <a16:creationId xmlns:a16="http://schemas.microsoft.com/office/drawing/2014/main" id="{2A23E4AD-DF69-1756-C341-AB3341DD5247}"/>
              </a:ext>
            </a:extLst>
          </p:cNvPr>
          <p:cNvSpPr txBox="1"/>
          <p:nvPr/>
        </p:nvSpPr>
        <p:spPr>
          <a:xfrm>
            <a:off x="3870791" y="3642351"/>
            <a:ext cx="22693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zh-TW" altLang="en-US" sz="1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場景</a:t>
            </a:r>
            <a:r>
              <a:rPr lang="en-US" altLang="zh-TW" sz="1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4:</a:t>
            </a:r>
          </a:p>
          <a:p>
            <a:r>
              <a:rPr lang="zh-TW" altLang="en-US" sz="1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盤點結果發</a:t>
            </a:r>
            <a:r>
              <a:rPr lang="en-US" altLang="zh-TW" sz="1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Email</a:t>
            </a:r>
            <a:r>
              <a:rPr lang="zh-TW" altLang="en-US" sz="1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給盤點人</a:t>
            </a:r>
            <a:endParaRPr lang="zh-TW" altLang="en-US" sz="1400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40287FD1-72C2-98C6-AC1A-3F4440A37BC9}"/>
              </a:ext>
            </a:extLst>
          </p:cNvPr>
          <p:cNvCxnSpPr>
            <a:cxnSpLocks/>
            <a:stCxn id="1025" idx="7"/>
            <a:endCxn id="26" idx="1"/>
          </p:cNvCxnSpPr>
          <p:nvPr/>
        </p:nvCxnSpPr>
        <p:spPr>
          <a:xfrm flipV="1">
            <a:off x="6328658" y="1532031"/>
            <a:ext cx="522027" cy="916163"/>
          </a:xfrm>
          <a:prstGeom prst="straightConnector1">
            <a:avLst/>
          </a:prstGeom>
          <a:ln w="82550">
            <a:gradFill flip="none" rotWithShape="1">
              <a:gsLst>
                <a:gs pos="0">
                  <a:schemeClr val="accent1">
                    <a:lumMod val="67000"/>
                    <a:alpha val="97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8B915B52-EF24-43A7-06DF-0E91CF114BF2}"/>
              </a:ext>
            </a:extLst>
          </p:cNvPr>
          <p:cNvCxnSpPr>
            <a:cxnSpLocks/>
          </p:cNvCxnSpPr>
          <p:nvPr/>
        </p:nvCxnSpPr>
        <p:spPr>
          <a:xfrm flipV="1">
            <a:off x="6342334" y="2595750"/>
            <a:ext cx="508351" cy="19100"/>
          </a:xfrm>
          <a:prstGeom prst="straightConnector1">
            <a:avLst/>
          </a:prstGeom>
          <a:ln w="82550">
            <a:gradFill flip="none" rotWithShape="1">
              <a:gsLst>
                <a:gs pos="0">
                  <a:schemeClr val="accent1">
                    <a:lumMod val="67000"/>
                    <a:alpha val="97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72302CCE-7CF9-48C2-08AE-22B049E6FDA3}"/>
              </a:ext>
            </a:extLst>
          </p:cNvPr>
          <p:cNvCxnSpPr>
            <a:cxnSpLocks/>
          </p:cNvCxnSpPr>
          <p:nvPr/>
        </p:nvCxnSpPr>
        <p:spPr>
          <a:xfrm>
            <a:off x="6270811" y="2781547"/>
            <a:ext cx="221718" cy="1007999"/>
          </a:xfrm>
          <a:prstGeom prst="straightConnector1">
            <a:avLst/>
          </a:prstGeom>
          <a:ln w="82550">
            <a:gradFill flip="none" rotWithShape="1">
              <a:gsLst>
                <a:gs pos="0">
                  <a:schemeClr val="accent1">
                    <a:lumMod val="67000"/>
                    <a:alpha val="97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2EC37B3C-9402-C70D-61E6-92A2C476021F}"/>
              </a:ext>
            </a:extLst>
          </p:cNvPr>
          <p:cNvCxnSpPr>
            <a:cxnSpLocks/>
          </p:cNvCxnSpPr>
          <p:nvPr/>
        </p:nvCxnSpPr>
        <p:spPr>
          <a:xfrm flipH="1">
            <a:off x="5255384" y="2787731"/>
            <a:ext cx="800258" cy="954865"/>
          </a:xfrm>
          <a:prstGeom prst="straightConnector1">
            <a:avLst/>
          </a:prstGeom>
          <a:ln w="82550">
            <a:gradFill flip="none" rotWithShape="1">
              <a:gsLst>
                <a:gs pos="0">
                  <a:schemeClr val="accent1">
                    <a:lumMod val="67000"/>
                    <a:alpha val="97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橢圓 1024">
            <a:extLst>
              <a:ext uri="{FF2B5EF4-FFF2-40B4-BE49-F238E27FC236}">
                <a16:creationId xmlns:a16="http://schemas.microsoft.com/office/drawing/2014/main" id="{CC6ADD4D-2525-C06A-BEAE-4E766D4ABA7E}"/>
              </a:ext>
            </a:extLst>
          </p:cNvPr>
          <p:cNvSpPr/>
          <p:nvPr/>
        </p:nvSpPr>
        <p:spPr>
          <a:xfrm>
            <a:off x="5929271" y="2379690"/>
            <a:ext cx="467911" cy="467777"/>
          </a:xfrm>
          <a:prstGeom prst="ellipse">
            <a:avLst/>
          </a:prstGeom>
          <a:noFill/>
          <a:ln w="12382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7000">
                  <a:schemeClr val="accent1">
                    <a:lumMod val="45000"/>
                    <a:lumOff val="55000"/>
                  </a:schemeClr>
                </a:gs>
                <a:gs pos="7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語音泡泡: 圓角矩形 21">
            <a:extLst>
              <a:ext uri="{FF2B5EF4-FFF2-40B4-BE49-F238E27FC236}">
                <a16:creationId xmlns:a16="http://schemas.microsoft.com/office/drawing/2014/main" id="{2E88ACCC-B5BB-0E8C-37F3-8A3A96EDA4DF}"/>
              </a:ext>
            </a:extLst>
          </p:cNvPr>
          <p:cNvSpPr/>
          <p:nvPr/>
        </p:nvSpPr>
        <p:spPr>
          <a:xfrm>
            <a:off x="4561589" y="1238047"/>
            <a:ext cx="1707163" cy="646894"/>
          </a:xfrm>
          <a:custGeom>
            <a:avLst/>
            <a:gdLst>
              <a:gd name="csX0" fmla="*/ 0 w 1707163"/>
              <a:gd name="csY0" fmla="*/ 107818 h 646894"/>
              <a:gd name="csX1" fmla="*/ 107818 w 1707163"/>
              <a:gd name="csY1" fmla="*/ 0 h 646894"/>
              <a:gd name="csX2" fmla="*/ 569592 w 1707163"/>
              <a:gd name="csY2" fmla="*/ 0 h 646894"/>
              <a:gd name="csX3" fmla="*/ 995845 w 1707163"/>
              <a:gd name="csY3" fmla="*/ 0 h 646894"/>
              <a:gd name="csX4" fmla="*/ 995845 w 1707163"/>
              <a:gd name="csY4" fmla="*/ 0 h 646894"/>
              <a:gd name="csX5" fmla="*/ 1422636 w 1707163"/>
              <a:gd name="csY5" fmla="*/ 0 h 646894"/>
              <a:gd name="csX6" fmla="*/ 1599345 w 1707163"/>
              <a:gd name="csY6" fmla="*/ 0 h 646894"/>
              <a:gd name="csX7" fmla="*/ 1707163 w 1707163"/>
              <a:gd name="csY7" fmla="*/ 107818 h 646894"/>
              <a:gd name="csX8" fmla="*/ 1707163 w 1707163"/>
              <a:gd name="csY8" fmla="*/ 377355 h 646894"/>
              <a:gd name="csX9" fmla="*/ 1707163 w 1707163"/>
              <a:gd name="csY9" fmla="*/ 377355 h 646894"/>
              <a:gd name="csX10" fmla="*/ 1707163 w 1707163"/>
              <a:gd name="csY10" fmla="*/ 539078 h 646894"/>
              <a:gd name="csX11" fmla="*/ 1707163 w 1707163"/>
              <a:gd name="csY11" fmla="*/ 539076 h 646894"/>
              <a:gd name="csX12" fmla="*/ 1599345 w 1707163"/>
              <a:gd name="csY12" fmla="*/ 646894 h 646894"/>
              <a:gd name="csX13" fmla="*/ 1422636 w 1707163"/>
              <a:gd name="csY13" fmla="*/ 646894 h 646894"/>
              <a:gd name="csX14" fmla="*/ 1562600 w 1707163"/>
              <a:gd name="csY14" fmla="*/ 1246021 h 646894"/>
              <a:gd name="csX15" fmla="*/ 1267887 w 1707163"/>
              <a:gd name="csY15" fmla="*/ 934475 h 646894"/>
              <a:gd name="csX16" fmla="*/ 995845 w 1707163"/>
              <a:gd name="csY16" fmla="*/ 646894 h 646894"/>
              <a:gd name="csX17" fmla="*/ 542951 w 1707163"/>
              <a:gd name="csY17" fmla="*/ 646894 h 646894"/>
              <a:gd name="csX18" fmla="*/ 107818 w 1707163"/>
              <a:gd name="csY18" fmla="*/ 646894 h 646894"/>
              <a:gd name="csX19" fmla="*/ 0 w 1707163"/>
              <a:gd name="csY19" fmla="*/ 539076 h 646894"/>
              <a:gd name="csX20" fmla="*/ 0 w 1707163"/>
              <a:gd name="csY20" fmla="*/ 539078 h 646894"/>
              <a:gd name="csX21" fmla="*/ 0 w 1707163"/>
              <a:gd name="csY21" fmla="*/ 377355 h 646894"/>
              <a:gd name="csX22" fmla="*/ 0 w 1707163"/>
              <a:gd name="csY22" fmla="*/ 377355 h 646894"/>
              <a:gd name="csX23" fmla="*/ 0 w 1707163"/>
              <a:gd name="csY23" fmla="*/ 107818 h 646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707163" h="646894" extrusionOk="0">
                <a:moveTo>
                  <a:pt x="0" y="107818"/>
                </a:moveTo>
                <a:cubicBezTo>
                  <a:pt x="-11934" y="40911"/>
                  <a:pt x="37241" y="4140"/>
                  <a:pt x="107818" y="0"/>
                </a:cubicBezTo>
                <a:cubicBezTo>
                  <a:pt x="204207" y="7796"/>
                  <a:pt x="392818" y="22354"/>
                  <a:pt x="569592" y="0"/>
                </a:cubicBezTo>
                <a:cubicBezTo>
                  <a:pt x="746366" y="-22354"/>
                  <a:pt x="867198" y="-14967"/>
                  <a:pt x="995845" y="0"/>
                </a:cubicBezTo>
                <a:lnTo>
                  <a:pt x="995845" y="0"/>
                </a:lnTo>
                <a:cubicBezTo>
                  <a:pt x="1143837" y="11479"/>
                  <a:pt x="1225241" y="-5740"/>
                  <a:pt x="1422636" y="0"/>
                </a:cubicBezTo>
                <a:cubicBezTo>
                  <a:pt x="1486473" y="8353"/>
                  <a:pt x="1549311" y="1134"/>
                  <a:pt x="1599345" y="0"/>
                </a:cubicBezTo>
                <a:cubicBezTo>
                  <a:pt x="1657399" y="1405"/>
                  <a:pt x="1706063" y="37785"/>
                  <a:pt x="1707163" y="107818"/>
                </a:cubicBezTo>
                <a:cubicBezTo>
                  <a:pt x="1703193" y="161765"/>
                  <a:pt x="1719486" y="251155"/>
                  <a:pt x="1707163" y="377355"/>
                </a:cubicBezTo>
                <a:lnTo>
                  <a:pt x="1707163" y="377355"/>
                </a:lnTo>
                <a:cubicBezTo>
                  <a:pt x="1702754" y="415700"/>
                  <a:pt x="1707831" y="485841"/>
                  <a:pt x="1707163" y="539078"/>
                </a:cubicBezTo>
                <a:lnTo>
                  <a:pt x="1707163" y="539076"/>
                </a:lnTo>
                <a:cubicBezTo>
                  <a:pt x="1712933" y="607211"/>
                  <a:pt x="1659793" y="656233"/>
                  <a:pt x="1599345" y="646894"/>
                </a:cubicBezTo>
                <a:cubicBezTo>
                  <a:pt x="1518754" y="653074"/>
                  <a:pt x="1469862" y="651862"/>
                  <a:pt x="1422636" y="646894"/>
                </a:cubicBezTo>
                <a:cubicBezTo>
                  <a:pt x="1462270" y="795568"/>
                  <a:pt x="1536714" y="1109398"/>
                  <a:pt x="1562600" y="1246021"/>
                </a:cubicBezTo>
                <a:cubicBezTo>
                  <a:pt x="1448817" y="1105246"/>
                  <a:pt x="1350301" y="1045546"/>
                  <a:pt x="1267887" y="934475"/>
                </a:cubicBezTo>
                <a:cubicBezTo>
                  <a:pt x="1185473" y="823404"/>
                  <a:pt x="1104496" y="761788"/>
                  <a:pt x="995845" y="646894"/>
                </a:cubicBezTo>
                <a:cubicBezTo>
                  <a:pt x="898718" y="629522"/>
                  <a:pt x="726452" y="629864"/>
                  <a:pt x="542951" y="646894"/>
                </a:cubicBezTo>
                <a:cubicBezTo>
                  <a:pt x="359450" y="663924"/>
                  <a:pt x="294395" y="639199"/>
                  <a:pt x="107818" y="646894"/>
                </a:cubicBezTo>
                <a:cubicBezTo>
                  <a:pt x="55284" y="642735"/>
                  <a:pt x="-2137" y="602014"/>
                  <a:pt x="0" y="539076"/>
                </a:cubicBezTo>
                <a:lnTo>
                  <a:pt x="0" y="539078"/>
                </a:lnTo>
                <a:cubicBezTo>
                  <a:pt x="-8077" y="465404"/>
                  <a:pt x="3080" y="411235"/>
                  <a:pt x="0" y="377355"/>
                </a:cubicBezTo>
                <a:lnTo>
                  <a:pt x="0" y="377355"/>
                </a:lnTo>
                <a:cubicBezTo>
                  <a:pt x="-7566" y="288519"/>
                  <a:pt x="-4910" y="178723"/>
                  <a:pt x="0" y="107818"/>
                </a:cubicBezTo>
                <a:close/>
              </a:path>
            </a:pathLst>
          </a:custGeom>
          <a:noFill/>
          <a:ln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wedgeRoundRectCallout">
                    <a:avLst>
                      <a:gd name="adj1" fmla="val 41532"/>
                      <a:gd name="adj2" fmla="val 142616"/>
                      <a:gd name="adj3" fmla="val 1666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100" b="1" i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Teams </a:t>
            </a:r>
            <a:r>
              <a:rPr lang="zh-TW" altLang="en-US" sz="1100" b="1" i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回應</a:t>
            </a:r>
            <a:endParaRPr lang="en-US" altLang="zh-TW" sz="1100" b="1" i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100" b="1" i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100" b="1" i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卡版盤點狀況</a:t>
            </a:r>
            <a:endParaRPr lang="en-US" altLang="zh-TW" sz="1100" b="1" i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100" b="1" i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100" b="1" i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盤點儲位結果統計</a:t>
            </a:r>
          </a:p>
        </p:txBody>
      </p:sp>
      <p:cxnSp>
        <p:nvCxnSpPr>
          <p:cNvPr id="1030" name="直線單箭頭接點 1029">
            <a:extLst>
              <a:ext uri="{FF2B5EF4-FFF2-40B4-BE49-F238E27FC236}">
                <a16:creationId xmlns:a16="http://schemas.microsoft.com/office/drawing/2014/main" id="{4CB84AE5-FF9F-2FD4-7170-4AA7006D46D0}"/>
              </a:ext>
            </a:extLst>
          </p:cNvPr>
          <p:cNvCxnSpPr>
            <a:cxnSpLocks/>
          </p:cNvCxnSpPr>
          <p:nvPr/>
        </p:nvCxnSpPr>
        <p:spPr>
          <a:xfrm>
            <a:off x="1576595" y="2229556"/>
            <a:ext cx="523193" cy="0"/>
          </a:xfrm>
          <a:prstGeom prst="straightConnector1">
            <a:avLst/>
          </a:prstGeom>
          <a:ln w="82550">
            <a:gradFill flip="none" rotWithShape="1">
              <a:gsLst>
                <a:gs pos="0">
                  <a:schemeClr val="accent1">
                    <a:lumMod val="67000"/>
                    <a:alpha val="97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語音泡泡: 圓角矩形 19">
            <a:extLst>
              <a:ext uri="{FF2B5EF4-FFF2-40B4-BE49-F238E27FC236}">
                <a16:creationId xmlns:a16="http://schemas.microsoft.com/office/drawing/2014/main" id="{D60D0858-3372-2613-42D2-3A71D5083331}"/>
              </a:ext>
            </a:extLst>
          </p:cNvPr>
          <p:cNvSpPr/>
          <p:nvPr/>
        </p:nvSpPr>
        <p:spPr>
          <a:xfrm>
            <a:off x="3719936" y="2712134"/>
            <a:ext cx="1983182" cy="618087"/>
          </a:xfrm>
          <a:custGeom>
            <a:avLst/>
            <a:gdLst>
              <a:gd name="csX0" fmla="*/ 0 w 1983182"/>
              <a:gd name="csY0" fmla="*/ 103017 h 618087"/>
              <a:gd name="csX1" fmla="*/ 103017 w 1983182"/>
              <a:gd name="csY1" fmla="*/ 0 h 618087"/>
              <a:gd name="csX2" fmla="*/ 330530 w 1983182"/>
              <a:gd name="csY2" fmla="*/ 0 h 618087"/>
              <a:gd name="csX3" fmla="*/ 638386 w 1983182"/>
              <a:gd name="csY3" fmla="*/ -511380 h 618087"/>
              <a:gd name="csX4" fmla="*/ 826326 w 1983182"/>
              <a:gd name="csY4" fmla="*/ 0 h 618087"/>
              <a:gd name="csX5" fmla="*/ 1353246 w 1983182"/>
              <a:gd name="csY5" fmla="*/ 0 h 618087"/>
              <a:gd name="csX6" fmla="*/ 1880165 w 1983182"/>
              <a:gd name="csY6" fmla="*/ 0 h 618087"/>
              <a:gd name="csX7" fmla="*/ 1983182 w 1983182"/>
              <a:gd name="csY7" fmla="*/ 103017 h 618087"/>
              <a:gd name="csX8" fmla="*/ 1983182 w 1983182"/>
              <a:gd name="csY8" fmla="*/ 103015 h 618087"/>
              <a:gd name="csX9" fmla="*/ 1983182 w 1983182"/>
              <a:gd name="csY9" fmla="*/ 103015 h 618087"/>
              <a:gd name="csX10" fmla="*/ 1983182 w 1983182"/>
              <a:gd name="csY10" fmla="*/ 257536 h 618087"/>
              <a:gd name="csX11" fmla="*/ 1983182 w 1983182"/>
              <a:gd name="csY11" fmla="*/ 515070 h 618087"/>
              <a:gd name="csX12" fmla="*/ 1880165 w 1983182"/>
              <a:gd name="csY12" fmla="*/ 618087 h 618087"/>
              <a:gd name="csX13" fmla="*/ 1374322 w 1983182"/>
              <a:gd name="csY13" fmla="*/ 618087 h 618087"/>
              <a:gd name="csX14" fmla="*/ 826326 w 1983182"/>
              <a:gd name="csY14" fmla="*/ 618087 h 618087"/>
              <a:gd name="csX15" fmla="*/ 330530 w 1983182"/>
              <a:gd name="csY15" fmla="*/ 618087 h 618087"/>
              <a:gd name="csX16" fmla="*/ 330530 w 1983182"/>
              <a:gd name="csY16" fmla="*/ 618087 h 618087"/>
              <a:gd name="csX17" fmla="*/ 103017 w 1983182"/>
              <a:gd name="csY17" fmla="*/ 618087 h 618087"/>
              <a:gd name="csX18" fmla="*/ 0 w 1983182"/>
              <a:gd name="csY18" fmla="*/ 515070 h 618087"/>
              <a:gd name="csX19" fmla="*/ 0 w 1983182"/>
              <a:gd name="csY19" fmla="*/ 257536 h 618087"/>
              <a:gd name="csX20" fmla="*/ 0 w 1983182"/>
              <a:gd name="csY20" fmla="*/ 103015 h 618087"/>
              <a:gd name="csX21" fmla="*/ 0 w 1983182"/>
              <a:gd name="csY21" fmla="*/ 103015 h 618087"/>
              <a:gd name="csX22" fmla="*/ 0 w 1983182"/>
              <a:gd name="csY22" fmla="*/ 103017 h 6180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983182" h="618087" extrusionOk="0">
                <a:moveTo>
                  <a:pt x="0" y="103017"/>
                </a:moveTo>
                <a:cubicBezTo>
                  <a:pt x="1715" y="41514"/>
                  <a:pt x="49749" y="9242"/>
                  <a:pt x="103017" y="0"/>
                </a:cubicBezTo>
                <a:cubicBezTo>
                  <a:pt x="160219" y="2572"/>
                  <a:pt x="249502" y="8219"/>
                  <a:pt x="330530" y="0"/>
                </a:cubicBezTo>
                <a:cubicBezTo>
                  <a:pt x="442266" y="-130523"/>
                  <a:pt x="593388" y="-386598"/>
                  <a:pt x="638386" y="-511380"/>
                </a:cubicBezTo>
                <a:cubicBezTo>
                  <a:pt x="688704" y="-378104"/>
                  <a:pt x="768720" y="-155293"/>
                  <a:pt x="826326" y="0"/>
                </a:cubicBezTo>
                <a:cubicBezTo>
                  <a:pt x="975331" y="15456"/>
                  <a:pt x="1169738" y="8347"/>
                  <a:pt x="1353246" y="0"/>
                </a:cubicBezTo>
                <a:cubicBezTo>
                  <a:pt x="1536754" y="-8347"/>
                  <a:pt x="1728185" y="-20931"/>
                  <a:pt x="1880165" y="0"/>
                </a:cubicBezTo>
                <a:cubicBezTo>
                  <a:pt x="1950726" y="-1279"/>
                  <a:pt x="1993656" y="49979"/>
                  <a:pt x="1983182" y="103017"/>
                </a:cubicBezTo>
                <a:lnTo>
                  <a:pt x="1983182" y="103015"/>
                </a:lnTo>
                <a:lnTo>
                  <a:pt x="1983182" y="103015"/>
                </a:lnTo>
                <a:cubicBezTo>
                  <a:pt x="1976176" y="159841"/>
                  <a:pt x="1984006" y="196539"/>
                  <a:pt x="1983182" y="257536"/>
                </a:cubicBezTo>
                <a:cubicBezTo>
                  <a:pt x="1979753" y="333519"/>
                  <a:pt x="1991225" y="444923"/>
                  <a:pt x="1983182" y="515070"/>
                </a:cubicBezTo>
                <a:cubicBezTo>
                  <a:pt x="1977275" y="574157"/>
                  <a:pt x="1935977" y="618781"/>
                  <a:pt x="1880165" y="618087"/>
                </a:cubicBezTo>
                <a:cubicBezTo>
                  <a:pt x="1641683" y="634628"/>
                  <a:pt x="1535809" y="627269"/>
                  <a:pt x="1374322" y="618087"/>
                </a:cubicBezTo>
                <a:cubicBezTo>
                  <a:pt x="1212835" y="608905"/>
                  <a:pt x="973242" y="591970"/>
                  <a:pt x="826326" y="618087"/>
                </a:cubicBezTo>
                <a:cubicBezTo>
                  <a:pt x="606683" y="637335"/>
                  <a:pt x="535110" y="602964"/>
                  <a:pt x="330530" y="618087"/>
                </a:cubicBezTo>
                <a:lnTo>
                  <a:pt x="330530" y="618087"/>
                </a:lnTo>
                <a:cubicBezTo>
                  <a:pt x="278062" y="616080"/>
                  <a:pt x="208050" y="614043"/>
                  <a:pt x="103017" y="618087"/>
                </a:cubicBezTo>
                <a:cubicBezTo>
                  <a:pt x="47391" y="616649"/>
                  <a:pt x="8419" y="574048"/>
                  <a:pt x="0" y="515070"/>
                </a:cubicBezTo>
                <a:cubicBezTo>
                  <a:pt x="-3909" y="396253"/>
                  <a:pt x="9776" y="332925"/>
                  <a:pt x="0" y="257536"/>
                </a:cubicBezTo>
                <a:cubicBezTo>
                  <a:pt x="-2698" y="225219"/>
                  <a:pt x="1062" y="142415"/>
                  <a:pt x="0" y="103015"/>
                </a:cubicBezTo>
                <a:lnTo>
                  <a:pt x="0" y="103015"/>
                </a:lnTo>
                <a:lnTo>
                  <a:pt x="0" y="103017"/>
                </a:lnTo>
                <a:close/>
              </a:path>
            </a:pathLst>
          </a:custGeom>
          <a:noFill/>
          <a:ln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066159514">
                  <a:prstGeom prst="wedgeRoundRectCallout">
                    <a:avLst>
                      <a:gd name="adj1" fmla="val -17810"/>
                      <a:gd name="adj2" fmla="val -132736"/>
                      <a:gd name="adj3" fmla="val 1666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100" b="1" i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sz="1100" b="1" i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影像辨識與定位</a:t>
            </a:r>
            <a:endParaRPr lang="en-US" altLang="zh-TW" sz="1100" b="1" i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100" b="1" i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100" b="1" i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辨識 </a:t>
            </a:r>
            <a:r>
              <a:rPr lang="en-US" altLang="zh-TW" sz="1100" b="1" i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OCR</a:t>
            </a:r>
          </a:p>
          <a:p>
            <a:r>
              <a:rPr lang="en-US" altLang="zh-TW" sz="1100" b="1" i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100" b="1" i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定位 鎖定用戶檔案</a:t>
            </a:r>
          </a:p>
        </p:txBody>
      </p:sp>
      <p:sp>
        <p:nvSpPr>
          <p:cNvPr id="1035" name="文字方塊 1034">
            <a:extLst>
              <a:ext uri="{FF2B5EF4-FFF2-40B4-BE49-F238E27FC236}">
                <a16:creationId xmlns:a16="http://schemas.microsoft.com/office/drawing/2014/main" id="{13D0FCBD-EF98-4A2E-84F2-346984E666CD}"/>
              </a:ext>
            </a:extLst>
          </p:cNvPr>
          <p:cNvSpPr txBox="1"/>
          <p:nvPr/>
        </p:nvSpPr>
        <p:spPr>
          <a:xfrm>
            <a:off x="1468274" y="903049"/>
            <a:ext cx="52704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n8n</a:t>
            </a:r>
            <a:r>
              <a:rPr lang="zh-TW" altLang="en-US" sz="16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自動完成料號序號判讀與資料庫比對並匯出盤點結果</a:t>
            </a:r>
            <a:r>
              <a:rPr lang="en-US" altLang="zh-TW" sz="16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16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DA4D1CF0-FC2E-2653-796F-8A8A09FE8F93}"/>
              </a:ext>
            </a:extLst>
          </p:cNvPr>
          <p:cNvSpPr txBox="1">
            <a:spLocks/>
          </p:cNvSpPr>
          <p:nvPr/>
        </p:nvSpPr>
        <p:spPr>
          <a:xfrm>
            <a:off x="-329742" y="4109205"/>
            <a:ext cx="4375541" cy="3845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endParaRPr lang="zh-TW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331B49AE-2AA0-EC4A-71F4-C07C07964A5F}"/>
              </a:ext>
            </a:extLst>
          </p:cNvPr>
          <p:cNvCxnSpPr/>
          <p:nvPr/>
        </p:nvCxnSpPr>
        <p:spPr>
          <a:xfrm>
            <a:off x="13482" y="760616"/>
            <a:ext cx="9144000" cy="0"/>
          </a:xfrm>
          <a:prstGeom prst="line">
            <a:avLst/>
          </a:prstGeom>
          <a:ln w="12700">
            <a:solidFill>
              <a:srgbClr val="FF0000">
                <a:alpha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94231674-BB77-48D0-3EB7-AC119EFC50D2}"/>
              </a:ext>
            </a:extLst>
          </p:cNvPr>
          <p:cNvSpPr txBox="1"/>
          <p:nvPr/>
        </p:nvSpPr>
        <p:spPr>
          <a:xfrm>
            <a:off x="6460" y="341578"/>
            <a:ext cx="553663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TW" altLang="zh-TW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應用機會說明</a:t>
            </a:r>
            <a:r>
              <a:rPr lang="en-US" altLang="zh-TW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(</a:t>
            </a:r>
            <a:r>
              <a:rPr lang="zh-TW" altLang="en-US" sz="28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手機極速盤點助手</a:t>
            </a:r>
            <a:r>
              <a:rPr lang="en-US" altLang="zh-TW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TW" altLang="en-US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endParaRPr lang="en-US" altLang="zh-TW" sz="2800" b="1" i="1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BA408F3-4116-DB65-7AEF-8F6881A54FED}"/>
              </a:ext>
            </a:extLst>
          </p:cNvPr>
          <p:cNvSpPr/>
          <p:nvPr/>
        </p:nvSpPr>
        <p:spPr>
          <a:xfrm>
            <a:off x="6777671" y="3114261"/>
            <a:ext cx="2101286" cy="244813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9D5A7EE-BDC6-8EBC-632E-02683048731E}"/>
              </a:ext>
            </a:extLst>
          </p:cNvPr>
          <p:cNvSpPr/>
          <p:nvPr/>
        </p:nvSpPr>
        <p:spPr>
          <a:xfrm>
            <a:off x="6492529" y="4442564"/>
            <a:ext cx="2101286" cy="244813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E8FB13C-F664-35DB-9A2A-1B574578840C}"/>
              </a:ext>
            </a:extLst>
          </p:cNvPr>
          <p:cNvSpPr txBox="1"/>
          <p:nvPr/>
        </p:nvSpPr>
        <p:spPr>
          <a:xfrm>
            <a:off x="5426913" y="481977"/>
            <a:ext cx="2776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影像辨識與整理完成盤點動作</a:t>
            </a:r>
            <a:endParaRPr lang="en-US" altLang="zh-TW" sz="1050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730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1CACB5D9-6828-6E5C-47B0-E8D139EBA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350" y="1561193"/>
            <a:ext cx="2846445" cy="325074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EA46770-B880-2584-9C7C-B4188D6D0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311" y="1653878"/>
            <a:ext cx="2414957" cy="3148044"/>
          </a:xfrm>
          <a:prstGeom prst="rect">
            <a:avLst/>
          </a:prstGeom>
        </p:spPr>
      </p:pic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F592DF2E-F9F2-6904-4F4F-12FB1ED9BC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</p:spPr>
        <p:txBody>
          <a:bodyPr/>
          <a:lstStyle/>
          <a:p>
            <a:pPr algn="ctr"/>
            <a:fld id="{9C8A23C4-5B59-48EB-9166-D95BA49D025A}" type="slidenum">
              <a:rPr lang="zh-TW" altLang="en-US" smtClean="0"/>
              <a:pPr algn="ctr"/>
              <a:t>7</a:t>
            </a:fld>
            <a:endParaRPr 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D6550E9-25E6-C250-35E8-E8E8D3055586}"/>
              </a:ext>
            </a:extLst>
          </p:cNvPr>
          <p:cNvCxnSpPr/>
          <p:nvPr/>
        </p:nvCxnSpPr>
        <p:spPr>
          <a:xfrm>
            <a:off x="7620" y="769979"/>
            <a:ext cx="9144000" cy="0"/>
          </a:xfrm>
          <a:prstGeom prst="line">
            <a:avLst/>
          </a:prstGeom>
          <a:ln w="12700">
            <a:solidFill>
              <a:srgbClr val="FF0000">
                <a:alpha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BEEE131-D2F8-CFAC-00BA-0FF990C3FCF4}"/>
              </a:ext>
            </a:extLst>
          </p:cNvPr>
          <p:cNvSpPr txBox="1"/>
          <p:nvPr/>
        </p:nvSpPr>
        <p:spPr>
          <a:xfrm>
            <a:off x="7620" y="341578"/>
            <a:ext cx="5615755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TW" altLang="zh-TW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應用機會說明</a:t>
            </a:r>
            <a:r>
              <a:rPr lang="en-US" altLang="zh-TW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(</a:t>
            </a:r>
            <a:r>
              <a:rPr lang="zh-TW" altLang="en-US" sz="2800" b="1" i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手機搶修物料助手</a:t>
            </a:r>
            <a:r>
              <a:rPr lang="en-US" altLang="zh-TW" sz="28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9C568BD-1E60-F31A-A6E2-17D7C6B79888}"/>
              </a:ext>
            </a:extLst>
          </p:cNvPr>
          <p:cNvSpPr txBox="1"/>
          <p:nvPr/>
        </p:nvSpPr>
        <p:spPr>
          <a:xfrm>
            <a:off x="4911088" y="801708"/>
            <a:ext cx="3886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spc="300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</a:t>
            </a:r>
            <a:r>
              <a:rPr lang="zh-TW" altLang="en-US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接著根據剛才查到的物料來源</a:t>
            </a:r>
            <a:r>
              <a:rPr lang="en-US" altLang="zh-TW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zh-TW" altLang="en-US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使用手機</a:t>
            </a:r>
            <a:r>
              <a:rPr lang="en-US" altLang="zh-TW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Teams</a:t>
            </a:r>
            <a:r>
              <a:rPr lang="zh-TW" altLang="en-US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搜尋物料存放位置</a:t>
            </a:r>
            <a:r>
              <a:rPr lang="en-US" altLang="zh-TW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zh-TW" altLang="en-US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快速取得物料進行搶修</a:t>
            </a:r>
            <a:endParaRPr lang="en-US" altLang="zh-TW" sz="1600" b="1" spc="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CAADD2E-6CB0-9D3B-A68C-940C8EB03DA0}"/>
              </a:ext>
            </a:extLst>
          </p:cNvPr>
          <p:cNvSpPr txBox="1"/>
          <p:nvPr/>
        </p:nvSpPr>
        <p:spPr>
          <a:xfrm>
            <a:off x="618396" y="813396"/>
            <a:ext cx="38675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</a:t>
            </a:r>
            <a:r>
              <a:rPr lang="zh-TW" altLang="en-US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當搶修發生時立即用手機查詢哪裡有物料</a:t>
            </a:r>
            <a:r>
              <a:rPr lang="en-US" altLang="zh-TW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TW" altLang="en-US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免到處詢問</a:t>
            </a:r>
            <a:r>
              <a:rPr lang="en-US" altLang="zh-TW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zh-TW" altLang="en-US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加速搶修進度</a:t>
            </a:r>
            <a:r>
              <a:rPr lang="en-US" altLang="zh-TW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TW" altLang="en-US" sz="1600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減少客戶抱怨</a:t>
            </a:r>
            <a:endParaRPr lang="en-US" altLang="zh-TW" sz="1600" b="1" spc="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A10013D-B4A9-617D-900D-83940654DC3F}"/>
              </a:ext>
            </a:extLst>
          </p:cNvPr>
          <p:cNvSpPr txBox="1"/>
          <p:nvPr/>
        </p:nvSpPr>
        <p:spPr>
          <a:xfrm>
            <a:off x="5448724" y="478525"/>
            <a:ext cx="3071197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TW" altLang="en-US" sz="1400" b="1" i="1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自然語言查找搶修物料所有資訊</a:t>
            </a:r>
            <a:endParaRPr lang="en-US" altLang="zh-TW" sz="1400" b="1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TW" sz="1050" i="1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4704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1F552A8-B7C4-A8A5-C5B0-BAFB9F844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69" y="309966"/>
            <a:ext cx="7174989" cy="450460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F09CB03-AB91-B175-1090-A6BE97C448A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9C8A23C4-5B59-48EB-9166-D95BA49D025A}" type="slidenum">
              <a:rPr lang="zh-TW" altLang="en-US" smtClean="0"/>
              <a:pPr algn="ctr"/>
              <a:t>8</a:t>
            </a:fld>
            <a:endParaRPr 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32C0D48-5857-A79D-615B-9E3E6AB29A78}"/>
              </a:ext>
            </a:extLst>
          </p:cNvPr>
          <p:cNvSpPr txBox="1"/>
          <p:nvPr/>
        </p:nvSpPr>
        <p:spPr>
          <a:xfrm>
            <a:off x="0" y="31242"/>
            <a:ext cx="45720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TW" altLang="zh-TW" sz="2400" b="1" i="1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具體效益</a:t>
            </a:r>
            <a:endParaRPr lang="en-US" altLang="zh-TW" sz="2400" b="1" i="1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26E8538-28A1-DC00-7A89-8527A668240F}"/>
              </a:ext>
            </a:extLst>
          </p:cNvPr>
          <p:cNvSpPr/>
          <p:nvPr/>
        </p:nvSpPr>
        <p:spPr>
          <a:xfrm>
            <a:off x="583660" y="1108953"/>
            <a:ext cx="7418961" cy="2619983"/>
          </a:xfrm>
          <a:prstGeom prst="roundRect">
            <a:avLst/>
          </a:prstGeom>
          <a:noFill/>
          <a:ln w="952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25838D5-256B-2DE6-040D-BB99D23F6043}"/>
              </a:ext>
            </a:extLst>
          </p:cNvPr>
          <p:cNvSpPr/>
          <p:nvPr/>
        </p:nvSpPr>
        <p:spPr>
          <a:xfrm>
            <a:off x="3459479" y="3777179"/>
            <a:ext cx="4244341" cy="604736"/>
          </a:xfrm>
          <a:prstGeom prst="roundRect">
            <a:avLst/>
          </a:prstGeom>
          <a:noFill/>
          <a:ln w="63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501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圖片 49">
            <a:extLst>
              <a:ext uri="{FF2B5EF4-FFF2-40B4-BE49-F238E27FC236}">
                <a16:creationId xmlns:a16="http://schemas.microsoft.com/office/drawing/2014/main" id="{8F7C62FE-4B50-F407-5C53-250281DBF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809" y="2842591"/>
            <a:ext cx="1742634" cy="165733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11FF15F3-DD0C-B2E8-0AA7-7A88AF19F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063" y="1485478"/>
            <a:ext cx="1828981" cy="182898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0C60B37-88A9-2AE8-C8ED-C7740D8D6B7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3988" y="4736804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9</a:t>
            </a:fld>
            <a:endParaRPr 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3F8F0A4-07FB-ACEF-604E-A5A72E29FA03}"/>
              </a:ext>
            </a:extLst>
          </p:cNvPr>
          <p:cNvSpPr txBox="1"/>
          <p:nvPr/>
        </p:nvSpPr>
        <p:spPr>
          <a:xfrm>
            <a:off x="80681" y="-15838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zh-TW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團隊成員介紹</a:t>
            </a:r>
            <a:endParaRPr lang="en-US" altLang="zh-TW" sz="3000" b="1" dirty="0"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6F207395-7D70-4840-DC3A-8D48D526C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067" y="2874397"/>
            <a:ext cx="1712929" cy="1705929"/>
          </a:xfrm>
          <a:prstGeom prst="rect">
            <a:avLst/>
          </a:prstGeom>
        </p:spPr>
      </p:pic>
      <p:sp>
        <p:nvSpPr>
          <p:cNvPr id="32" name="文字方塊 31">
            <a:extLst>
              <a:ext uri="{FF2B5EF4-FFF2-40B4-BE49-F238E27FC236}">
                <a16:creationId xmlns:a16="http://schemas.microsoft.com/office/drawing/2014/main" id="{276A3EC1-93C6-F556-CCA4-95819DB99AD3}"/>
              </a:ext>
            </a:extLst>
          </p:cNvPr>
          <p:cNvSpPr txBox="1"/>
          <p:nvPr/>
        </p:nvSpPr>
        <p:spPr>
          <a:xfrm>
            <a:off x="3778654" y="3261536"/>
            <a:ext cx="1428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CNO</a:t>
            </a:r>
            <a:r>
              <a:rPr lang="zh-TW" altLang="en-US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經理</a:t>
            </a:r>
            <a:endParaRPr lang="en-US" altLang="zh-TW" sz="9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Jimmy Huang</a:t>
            </a:r>
            <a:endParaRPr lang="zh-TW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791B888-EE03-8F22-F758-401050939CD3}"/>
              </a:ext>
            </a:extLst>
          </p:cNvPr>
          <p:cNvSpPr txBox="1"/>
          <p:nvPr/>
        </p:nvSpPr>
        <p:spPr>
          <a:xfrm>
            <a:off x="7573862" y="2354096"/>
            <a:ext cx="123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AO1 </a:t>
            </a:r>
            <a:r>
              <a:rPr lang="zh-TW" altLang="en-US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技術副理</a:t>
            </a:r>
            <a:endParaRPr lang="en-US" altLang="zh-TW" sz="9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Jacky Huang</a:t>
            </a:r>
            <a:r>
              <a:rPr lang="zh-TW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2F217F4-E944-3647-6C91-AFB34C85891C}"/>
              </a:ext>
            </a:extLst>
          </p:cNvPr>
          <p:cNvSpPr txBox="1"/>
          <p:nvPr/>
        </p:nvSpPr>
        <p:spPr>
          <a:xfrm>
            <a:off x="5631184" y="2363419"/>
            <a:ext cx="123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AO1</a:t>
            </a:r>
            <a:r>
              <a:rPr lang="zh-TW" altLang="en-US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副理</a:t>
            </a:r>
            <a:endParaRPr lang="en-US" altLang="zh-TW" sz="9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Eric Su</a:t>
            </a:r>
            <a:endParaRPr lang="zh-TW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D2B6652-E2AA-4D59-7FE5-B797A9C4D970}"/>
              </a:ext>
            </a:extLst>
          </p:cNvPr>
          <p:cNvSpPr txBox="1"/>
          <p:nvPr/>
        </p:nvSpPr>
        <p:spPr>
          <a:xfrm>
            <a:off x="510120" y="2308016"/>
            <a:ext cx="123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CNO</a:t>
            </a:r>
            <a:r>
              <a:rPr lang="zh-TW" altLang="en-US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技術副理</a:t>
            </a:r>
            <a:endParaRPr lang="en-US" altLang="zh-TW" sz="9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Billy Yu</a:t>
            </a:r>
            <a:endParaRPr lang="zh-TW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32B06A4-2610-66AF-D7BB-965E82EA75AC}"/>
              </a:ext>
            </a:extLst>
          </p:cNvPr>
          <p:cNvSpPr txBox="1"/>
          <p:nvPr/>
        </p:nvSpPr>
        <p:spPr>
          <a:xfrm>
            <a:off x="359758" y="4461024"/>
            <a:ext cx="134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CNO</a:t>
            </a:r>
            <a:r>
              <a:rPr lang="zh-TW" altLang="en-US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資深工程師</a:t>
            </a:r>
            <a:endParaRPr lang="en-US" altLang="zh-TW" sz="9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Karren Cheng</a:t>
            </a:r>
            <a:endParaRPr lang="zh-TW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14BB24B-F73E-4C0C-A83F-5AF6B119E750}"/>
              </a:ext>
            </a:extLst>
          </p:cNvPr>
          <p:cNvSpPr txBox="1"/>
          <p:nvPr/>
        </p:nvSpPr>
        <p:spPr>
          <a:xfrm>
            <a:off x="2100958" y="2311269"/>
            <a:ext cx="123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CNO</a:t>
            </a:r>
            <a:r>
              <a:rPr lang="zh-TW" altLang="en-US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技術副理</a:t>
            </a:r>
            <a:endParaRPr lang="en-US" altLang="zh-TW" sz="9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Hank Liu</a:t>
            </a:r>
            <a:endParaRPr lang="zh-TW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784F545-1FF5-4B87-4828-A41C2E1CED0D}"/>
              </a:ext>
            </a:extLst>
          </p:cNvPr>
          <p:cNvSpPr txBox="1"/>
          <p:nvPr/>
        </p:nvSpPr>
        <p:spPr>
          <a:xfrm>
            <a:off x="2054890" y="4479824"/>
            <a:ext cx="123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CNO</a:t>
            </a:r>
            <a:r>
              <a:rPr lang="zh-TW" altLang="en-US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技術副理</a:t>
            </a:r>
            <a:endParaRPr lang="en-US" altLang="zh-TW" sz="9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Robert Tsai</a:t>
            </a:r>
            <a:endParaRPr lang="zh-TW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8A3B685F-02CD-962F-B64A-F130241DBB2B}"/>
              </a:ext>
            </a:extLst>
          </p:cNvPr>
          <p:cNvSpPr txBox="1"/>
          <p:nvPr/>
        </p:nvSpPr>
        <p:spPr>
          <a:xfrm>
            <a:off x="5866621" y="4495067"/>
            <a:ext cx="123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AO6</a:t>
            </a:r>
            <a:r>
              <a:rPr lang="zh-TW" altLang="en-US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副理</a:t>
            </a:r>
            <a:endParaRPr lang="en-US" altLang="zh-TW" sz="9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Jesse Tsai</a:t>
            </a:r>
            <a:r>
              <a:rPr lang="zh-TW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E1C0E819-5F96-215D-4CFE-A29E5951F895}"/>
              </a:ext>
            </a:extLst>
          </p:cNvPr>
          <p:cNvSpPr txBox="1"/>
          <p:nvPr/>
        </p:nvSpPr>
        <p:spPr>
          <a:xfrm>
            <a:off x="7622500" y="4526642"/>
            <a:ext cx="123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AO6</a:t>
            </a:r>
            <a:r>
              <a:rPr lang="zh-TW" altLang="en-US" sz="9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技術副理</a:t>
            </a:r>
            <a:endParaRPr lang="en-US" altLang="zh-TW" sz="9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Henry Chen</a:t>
            </a:r>
            <a:endParaRPr lang="zh-TW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2" name="圖片 41">
            <a:extLst>
              <a:ext uri="{FF2B5EF4-FFF2-40B4-BE49-F238E27FC236}">
                <a16:creationId xmlns:a16="http://schemas.microsoft.com/office/drawing/2014/main" id="{935658AE-7B76-65B6-8F7E-ADA0B11BC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7422" y="2844242"/>
            <a:ext cx="1791919" cy="1705929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ED882ADD-FFD7-7CEE-E744-EC64883F85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7916" y="685803"/>
            <a:ext cx="1832428" cy="1705929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F45113DB-CB83-A4EA-E25B-B8F16B4E6E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2067" y="694192"/>
            <a:ext cx="1778494" cy="1705929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F3F961F1-5AF4-E597-25F0-AA831BE20A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137" y="707947"/>
            <a:ext cx="1718024" cy="1659589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F7144DA5-FDB6-249C-344A-EA774A7F1F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284" y="724633"/>
            <a:ext cx="1626156" cy="1626156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657DADA9-35DF-195C-499A-BFC14CAED0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187" y="2860597"/>
            <a:ext cx="1657330" cy="165733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3608095-C172-8712-307A-B6898958EB20}"/>
              </a:ext>
            </a:extLst>
          </p:cNvPr>
          <p:cNvSpPr txBox="1"/>
          <p:nvPr/>
        </p:nvSpPr>
        <p:spPr>
          <a:xfrm>
            <a:off x="2006084" y="510599"/>
            <a:ext cx="14229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Copilot</a:t>
            </a:r>
            <a:r>
              <a:rPr lang="zh-TW" altLang="en-US" sz="12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系統開發</a:t>
            </a:r>
            <a:endParaRPr lang="zh-TW" alt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26331AF-41C0-BFE0-3D93-D20949AF909F}"/>
              </a:ext>
            </a:extLst>
          </p:cNvPr>
          <p:cNvSpPr txBox="1"/>
          <p:nvPr/>
        </p:nvSpPr>
        <p:spPr>
          <a:xfrm>
            <a:off x="170807" y="501017"/>
            <a:ext cx="1657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n8n/copilot</a:t>
            </a:r>
            <a:r>
              <a:rPr lang="zh-TW" altLang="en-US" sz="12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系統開發</a:t>
            </a:r>
            <a:endParaRPr lang="zh-TW" alt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3C2F9B-6D06-1A24-5A3B-EA129F471439}"/>
              </a:ext>
            </a:extLst>
          </p:cNvPr>
          <p:cNvSpPr txBox="1"/>
          <p:nvPr/>
        </p:nvSpPr>
        <p:spPr>
          <a:xfrm>
            <a:off x="1820517" y="2661137"/>
            <a:ext cx="19160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Power Automate</a:t>
            </a:r>
            <a:r>
              <a:rPr lang="zh-TW" altLang="en-US" sz="11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系統開發</a:t>
            </a:r>
            <a:endParaRPr lang="zh-TW" alt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BD872E3-1CB4-D185-7C2B-EA190A5FC410}"/>
              </a:ext>
            </a:extLst>
          </p:cNvPr>
          <p:cNvSpPr txBox="1"/>
          <p:nvPr/>
        </p:nvSpPr>
        <p:spPr>
          <a:xfrm>
            <a:off x="393101" y="2653442"/>
            <a:ext cx="14229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UI/UX</a:t>
            </a:r>
            <a:r>
              <a:rPr lang="zh-TW" altLang="en-US" sz="12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系統開發</a:t>
            </a:r>
            <a:endParaRPr lang="zh-TW" alt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2C828CE-F70E-2E60-1439-E0AD9F4CCFCD}"/>
              </a:ext>
            </a:extLst>
          </p:cNvPr>
          <p:cNvSpPr txBox="1"/>
          <p:nvPr/>
        </p:nvSpPr>
        <p:spPr>
          <a:xfrm>
            <a:off x="7406640" y="512871"/>
            <a:ext cx="1662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Copilot</a:t>
            </a:r>
            <a:r>
              <a:rPr lang="zh-TW" altLang="en-US" sz="12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物料管理專家</a:t>
            </a:r>
            <a:endParaRPr lang="zh-TW" alt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3852373-B352-BE6B-FCAF-260562D38F16}"/>
              </a:ext>
            </a:extLst>
          </p:cNvPr>
          <p:cNvSpPr txBox="1"/>
          <p:nvPr/>
        </p:nvSpPr>
        <p:spPr>
          <a:xfrm>
            <a:off x="5470708" y="478483"/>
            <a:ext cx="1730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Copilot Power BI</a:t>
            </a:r>
            <a:r>
              <a:rPr lang="zh-TW" altLang="en-US" sz="12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專家</a:t>
            </a:r>
            <a:endParaRPr lang="zh-TW" alt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1E27F03-B056-F3D8-1ED7-55F145058402}"/>
              </a:ext>
            </a:extLst>
          </p:cNvPr>
          <p:cNvSpPr txBox="1"/>
          <p:nvPr/>
        </p:nvSpPr>
        <p:spPr>
          <a:xfrm>
            <a:off x="5656916" y="2667642"/>
            <a:ext cx="14229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物料倉儲管理專家</a:t>
            </a:r>
            <a:endParaRPr lang="zh-TW" alt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7244F1A-129C-5D0C-CB4A-9CD5AD996154}"/>
              </a:ext>
            </a:extLst>
          </p:cNvPr>
          <p:cNvSpPr txBox="1"/>
          <p:nvPr/>
        </p:nvSpPr>
        <p:spPr>
          <a:xfrm>
            <a:off x="7509850" y="2697797"/>
            <a:ext cx="14229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物料倉儲管理專家</a:t>
            </a:r>
            <a:endParaRPr lang="zh-TW" alt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42C9937-019B-078B-71ED-9CD37FD82A42}"/>
              </a:ext>
            </a:extLst>
          </p:cNvPr>
          <p:cNvSpPr txBox="1"/>
          <p:nvPr/>
        </p:nvSpPr>
        <p:spPr>
          <a:xfrm>
            <a:off x="3716643" y="1292250"/>
            <a:ext cx="19160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系統整合與推廣顧問</a:t>
            </a:r>
            <a:endParaRPr lang="zh-TW" alt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041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077181"/>
      </p:ext>
    </p:extLst>
  </p:cSld>
  <p:clrMapOvr>
    <a:masterClrMapping/>
  </p:clrMapOvr>
</p:sld>
</file>

<file path=ppt/theme/theme1.xml><?xml version="1.0" encoding="utf-8"?>
<a:theme xmlns:a="http://schemas.openxmlformats.org/drawingml/2006/main" name="logo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>
              <a:lumMod val="50000"/>
              <a:lumOff val="5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>
                <a:lumMod val="50000"/>
                <a:lumOff val="50000"/>
              </a:schemeClr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696969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無logo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>
              <a:lumMod val="50000"/>
              <a:lumOff val="5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>
                <a:lumMod val="50000"/>
                <a:lumOff val="50000"/>
              </a:schemeClr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696969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6F2769-7194-4217-93D3-3AF3A4742282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/field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2958</TotalTime>
  <Words>1081</Words>
  <Application>Microsoft Office PowerPoint</Application>
  <PresentationFormat>如螢幕大小 (16:9)</PresentationFormat>
  <Paragraphs>168</Paragraphs>
  <Slides>11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Microsoft YaHei</vt:lpstr>
      <vt:lpstr>Source Han Sans CN Medium</vt:lpstr>
      <vt:lpstr>微軟正黑體</vt:lpstr>
      <vt:lpstr>Arial</vt:lpstr>
      <vt:lpstr>Calibri</vt:lpstr>
      <vt:lpstr>Wingdings</vt:lpstr>
      <vt:lpstr>logo版</vt:lpstr>
      <vt:lpstr>無logo版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Kuo, Sean 郭程維 (515746)</dc:creator>
  <cp:lastModifiedBy>Yu, Billy 尤明智 (76112)</cp:lastModifiedBy>
  <cp:revision>456</cp:revision>
  <dcterms:created xsi:type="dcterms:W3CDTF">2010-04-12T23:12:02Z</dcterms:created>
  <dcterms:modified xsi:type="dcterms:W3CDTF">2026-06-17T07:20:57Z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