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Baskervville"/>
      <p:regular r:id="rId201314"/>
    </p:embeddedFont>
    <p:embeddedFont>
      <p:font typeface="Baskervville Medium"/>
      <p:regular r:id="rId201315"/>
    </p:embeddedFont>
    <p:embeddedFont>
      <p:font typeface="Baskervville SemiBold"/>
      <p:regular r:id="rId201316"/>
    </p:embeddedFont>
    <p:embeddedFont>
      <p:font typeface="Baskervville Bold"/>
      <p:regular r:id="rId201317"/>
    </p:embeddedFont>
    <p:embeddedFont>
      <p:font typeface="Poppins ExtraLight"/>
      <p:regular r:id="rId201318"/>
    </p:embeddedFont>
    <p:embeddedFont>
      <p:font typeface="Poppins Thin"/>
      <p:regular r:id="rId201319"/>
    </p:embeddedFont>
    <p:embeddedFont>
      <p:font typeface="Poppins Light"/>
      <p:regular r:id="rId201320"/>
    </p:embeddedFont>
    <p:embeddedFont>
      <p:font typeface="Poppins SemiBold"/>
      <p:regular r:id="rId201321"/>
    </p:embeddedFont>
    <p:embeddedFont>
      <p:font typeface="Poppins Bold"/>
      <p:regular r:id="rId201322"/>
    </p:embeddedFont>
    <p:embeddedFont>
      <p:font typeface="Poppins ExtraBold"/>
      <p:regular r:id="rId201323"/>
    </p:embeddedFont>
    <p:embeddedFont>
      <p:font typeface="Poppins Black"/>
      <p:regular r:id="rId201324"/>
    </p:embeddedFont>
    <p:embeddedFont>
      <p:font typeface="Poppins"/>
      <p:regular r:id="rId201325"/>
    </p:embeddedFont>
    <p:embeddedFont>
      <p:font typeface="Poppins Medium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927" y="2631777"/>
            <a:ext cx="6164406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南區 AI 物料管理智靈</a:t>
            </a:r>
            <a:endParaRPr lang="zh-CN" sz="4350" dirty="0"/>
          </a:p>
        </p:txBody>
      </p:sp>
      <p:sp>
        <p:nvSpPr>
          <p:cNvPr id="4" name="Text 1"/>
          <p:cNvSpPr/>
          <p:nvPr/>
        </p:nvSpPr>
        <p:spPr>
          <a:xfrm>
            <a:off x="540927" y="3557885"/>
            <a:ext cx="653795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NT-RO-SEO-CNO　|　主要報告人：尤明智 Billy Yu</a:t>
            </a:r>
            <a:endParaRPr lang="zh-CN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讓維運更快、更準、更省、更可追蹤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2813" y="1645444"/>
            <a:ext cx="6164406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維運三大痛點</a:t>
            </a:r>
            <a:endParaRPr lang="zh-CN" sz="4350" dirty="0"/>
          </a:p>
        </p:txBody>
      </p:sp>
      <p:sp>
        <p:nvSpPr>
          <p:cNvPr id="4" name="Shape 1"/>
          <p:cNvSpPr/>
          <p:nvPr/>
        </p:nvSpPr>
        <p:spPr>
          <a:xfrm>
            <a:off x="5112813" y="2571552"/>
            <a:ext cx="3191688" cy="1490464"/>
          </a:xfrm>
          <a:prstGeom prst="roundRect">
            <a:avLst>
              <a:gd name="adj" fmla="val 15556"/>
            </a:avLst>
          </a:prstGeom>
          <a:solidFill>
            <a:srgbClr val="ECDFE3"/>
          </a:solidFill>
          <a:ln/>
        </p:spPr>
      </p:sp>
      <p:sp>
        <p:nvSpPr>
          <p:cNvPr id="5" name="Text 2"/>
          <p:cNvSpPr/>
          <p:nvPr/>
        </p:nvSpPr>
        <p:spPr>
          <a:xfrm>
            <a:off x="5267292" y="2726035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廠商物料無系統管理</a:t>
            </a:r>
            <a:endParaRPr lang="zh-CN" sz="2150" dirty="0"/>
          </a:p>
        </p:txBody>
      </p:sp>
      <p:sp>
        <p:nvSpPr>
          <p:cNvPr id="6" name="Text 3"/>
          <p:cNvSpPr/>
          <p:nvPr/>
        </p:nvSpPr>
        <p:spPr>
          <a:xfrm>
            <a:off x="5267292" y="3165773"/>
            <a:ext cx="2882729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Ericsson、NOKIA 物料缺乏系統，易發生找不到、漏登記、帳料不符，風險持續升高。</a:t>
            </a:r>
            <a:endParaRPr lang="zh-CN" sz="1200" dirty="0"/>
          </a:p>
        </p:txBody>
      </p:sp>
      <p:sp>
        <p:nvSpPr>
          <p:cNvPr id="7" name="Shape 4"/>
          <p:cNvSpPr/>
          <p:nvPr/>
        </p:nvSpPr>
        <p:spPr>
          <a:xfrm>
            <a:off x="8458981" y="2571552"/>
            <a:ext cx="3191787" cy="1490464"/>
          </a:xfrm>
          <a:prstGeom prst="roundRect">
            <a:avLst>
              <a:gd name="adj" fmla="val 15556"/>
            </a:avLst>
          </a:prstGeom>
          <a:solidFill>
            <a:srgbClr val="ECDFE3"/>
          </a:solidFill>
          <a:ln/>
        </p:spPr>
      </p:sp>
      <p:sp>
        <p:nvSpPr>
          <p:cNvPr id="8" name="Text 5"/>
          <p:cNvSpPr/>
          <p:nvPr/>
        </p:nvSpPr>
        <p:spPr>
          <a:xfrm>
            <a:off x="8613460" y="2726035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盤點靠人工眼力</a:t>
            </a:r>
            <a:endParaRPr lang="zh-CN" sz="2150" dirty="0"/>
          </a:p>
        </p:txBody>
      </p:sp>
      <p:sp>
        <p:nvSpPr>
          <p:cNvPr id="9" name="Text 6"/>
          <p:cNvSpPr/>
          <p:nvPr/>
        </p:nvSpPr>
        <p:spPr>
          <a:xfrm>
            <a:off x="8613460" y="3165773"/>
            <a:ext cx="2882828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每年 ISO 與內外稽必查，人眼判讀、手抄記錄，效率低、錯誤多、人力成本高。</a:t>
            </a:r>
            <a:endParaRPr lang="zh-CN" sz="1200" dirty="0"/>
          </a:p>
        </p:txBody>
      </p:sp>
      <p:sp>
        <p:nvSpPr>
          <p:cNvPr id="10" name="Shape 7"/>
          <p:cNvSpPr/>
          <p:nvPr/>
        </p:nvSpPr>
        <p:spPr>
          <a:xfrm>
            <a:off x="5112813" y="4216499"/>
            <a:ext cx="6537955" cy="995958"/>
          </a:xfrm>
          <a:prstGeom prst="roundRect">
            <a:avLst>
              <a:gd name="adj" fmla="val 23280"/>
            </a:avLst>
          </a:prstGeom>
          <a:solidFill>
            <a:srgbClr val="ECDFE3"/>
          </a:solidFill>
          <a:ln/>
        </p:spPr>
      </p:sp>
      <p:sp>
        <p:nvSpPr>
          <p:cNvPr id="11" name="Text 8"/>
          <p:cNvSpPr/>
          <p:nvPr/>
        </p:nvSpPr>
        <p:spPr>
          <a:xfrm>
            <a:off x="5267292" y="4370983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搶修找料靠問人</a:t>
            </a:r>
            <a:endParaRPr lang="zh-CN" sz="2150" dirty="0"/>
          </a:p>
        </p:txBody>
      </p:sp>
      <p:sp>
        <p:nvSpPr>
          <p:cNvPr id="12" name="Text 9"/>
          <p:cNvSpPr/>
          <p:nvPr/>
        </p:nvSpPr>
        <p:spPr>
          <a:xfrm>
            <a:off x="5267292" y="4810720"/>
            <a:ext cx="6228996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保管場所分散，緊急時須詢問保管人確認位置，延誤搶修進度，引發客戶抱怨。</a:t>
            </a:r>
            <a:endParaRPr lang="zh-C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1959868"/>
            <a:ext cx="6164406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三大 AI 核心能力</a:t>
            </a:r>
            <a:endParaRPr lang="zh-CN" sz="4350" dirty="0"/>
          </a:p>
        </p:txBody>
      </p:sp>
      <p:sp>
        <p:nvSpPr>
          <p:cNvPr id="3" name="Text 1"/>
          <p:cNvSpPr/>
          <p:nvPr/>
        </p:nvSpPr>
        <p:spPr>
          <a:xfrm>
            <a:off x="540927" y="2963267"/>
            <a:ext cx="11650768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善用公司 AI 工具，以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手機 Teams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作為唯一入口，實現「隨時、隨地、隨身」作業模式。</a:t>
            </a:r>
            <a:endParaRPr lang="zh-CN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927" y="3384352"/>
            <a:ext cx="386348" cy="386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927" y="3963888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Power Automate + AI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40927" y="4403626"/>
            <a:ext cx="3574464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廠商物料從進料、領料、上站、驗收到報表，全流程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閉環管理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，自動追蹤通知。</a:t>
            </a:r>
            <a:endParaRPr lang="zh-CN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8566" y="3384352"/>
            <a:ext cx="386348" cy="386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8566" y="3963888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n8n AI 影像辨識</a:t>
            </a:r>
            <a:endParaRPr lang="zh-CN" sz="2150" dirty="0"/>
          </a:p>
        </p:txBody>
      </p:sp>
      <p:sp>
        <p:nvSpPr>
          <p:cNvPr id="9" name="Text 5"/>
          <p:cNvSpPr/>
          <p:nvPr/>
        </p:nvSpPr>
        <p:spPr>
          <a:xfrm>
            <a:off x="4308566" y="4403626"/>
            <a:ext cx="3574464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手機拍照自動判讀料號序號（OCR），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10 張卡板 15 分鐘縮短至 40 秒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，自動產出盤點結果。</a:t>
            </a:r>
            <a:endParaRPr lang="zh-CN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6204" y="3384352"/>
            <a:ext cx="386348" cy="3863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6204" y="3963888"/>
            <a:ext cx="303036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Copilot AI 自然語言查詢</a:t>
            </a:r>
            <a:endParaRPr lang="zh-CN" sz="2150" dirty="0"/>
          </a:p>
        </p:txBody>
      </p:sp>
      <p:sp>
        <p:nvSpPr>
          <p:cNvPr id="12" name="Text 7"/>
          <p:cNvSpPr/>
          <p:nvPr/>
        </p:nvSpPr>
        <p:spPr>
          <a:xfrm>
            <a:off x="8076204" y="4403626"/>
            <a:ext cx="3574564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搶修時以自然語言即時搜尋物料位置，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免問人、加速搶修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，降低客戶抱怨。</a:t>
            </a:r>
            <a:endParaRPr lang="zh-C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99269"/>
            <a:ext cx="6164406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三大構面核心價值</a:t>
            </a:r>
            <a:endParaRPr lang="zh-CN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27" y="1883271"/>
            <a:ext cx="7089399" cy="401736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3698" y="1599208"/>
            <a:ext cx="3643321" cy="13431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3425" y="1772741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營運貢獻</a:t>
            </a:r>
            <a:endParaRPr lang="zh-CN" sz="2150" dirty="0"/>
          </a:p>
        </p:txBody>
      </p:sp>
      <p:sp>
        <p:nvSpPr>
          <p:cNvPr id="6" name="Text 2"/>
          <p:cNvSpPr/>
          <p:nvPr/>
        </p:nvSpPr>
        <p:spPr>
          <a:xfrm>
            <a:off x="8263425" y="2274292"/>
            <a:ext cx="3220064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即時查找物料位置，大幅縮短搶修時間，直接提升服務品質、降低客戶抱怨。</a:t>
            </a:r>
            <a:endParaRPr lang="zh-CN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3698" y="3096816"/>
            <a:ext cx="3643321" cy="13431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3425" y="3270349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成本節約</a:t>
            </a:r>
            <a:endParaRPr lang="zh-CN" sz="2150" dirty="0"/>
          </a:p>
        </p:txBody>
      </p:sp>
      <p:sp>
        <p:nvSpPr>
          <p:cNvPr id="9" name="Text 4"/>
          <p:cNvSpPr/>
          <p:nvPr/>
        </p:nvSpPr>
        <p:spPr>
          <a:xfrm>
            <a:off x="8263425" y="3771900"/>
            <a:ext cx="3220064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自動盤點減少人力與錯誤，自動產出報表，整體管理成本顯著下降。</a:t>
            </a:r>
            <a:endParaRPr lang="zh-CN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3698" y="4594423"/>
            <a:ext cx="3643321" cy="15903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3425" y="4767957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執行難度</a:t>
            </a:r>
            <a:endParaRPr lang="zh-CN" sz="2150" dirty="0"/>
          </a:p>
        </p:txBody>
      </p:sp>
      <p:sp>
        <p:nvSpPr>
          <p:cNvPr id="12" name="Text 6"/>
          <p:cNvSpPr/>
          <p:nvPr/>
        </p:nvSpPr>
        <p:spPr>
          <a:xfrm>
            <a:off x="8263425" y="5269508"/>
            <a:ext cx="3220064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整合 Teams + Power Automate + n8n + Copilot + 資料庫，做到現場可用、流程閉環、全程可追蹤。</a:t>
            </a:r>
            <a:endParaRPr lang="zh-C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1235571"/>
            <a:ext cx="6164406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具體效益與三階段願景</a:t>
            </a:r>
            <a:endParaRPr lang="zh-CN" sz="4350" dirty="0"/>
          </a:p>
        </p:txBody>
      </p:sp>
      <p:sp>
        <p:nvSpPr>
          <p:cNvPr id="3" name="Text 1"/>
          <p:cNvSpPr/>
          <p:nvPr/>
        </p:nvSpPr>
        <p:spPr>
          <a:xfrm>
            <a:off x="540927" y="2238970"/>
            <a:ext cx="11650768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更快、更準、更省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維運效率全面提升，現場工作更簡單直覺。</a:t>
            </a:r>
            <a:endParaRPr 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772696" y="3278287"/>
            <a:ext cx="3368392" cy="154484"/>
          </a:xfrm>
          <a:prstGeom prst="roundRect">
            <a:avLst>
              <a:gd name="adj" fmla="val 150083"/>
            </a:avLst>
          </a:prstGeom>
          <a:solidFill>
            <a:srgbClr val="ECDFE3"/>
          </a:solidFill>
          <a:ln/>
        </p:spPr>
      </p:sp>
      <p:sp>
        <p:nvSpPr>
          <p:cNvPr id="5" name="Shape 3"/>
          <p:cNvSpPr/>
          <p:nvPr/>
        </p:nvSpPr>
        <p:spPr>
          <a:xfrm>
            <a:off x="540927" y="3123654"/>
            <a:ext cx="463638" cy="463649"/>
          </a:xfrm>
          <a:prstGeom prst="roundRect">
            <a:avLst>
              <a:gd name="adj" fmla="val 82174"/>
            </a:avLst>
          </a:prstGeom>
          <a:solidFill>
            <a:srgbClr val="ECDF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6812" y="3239542"/>
            <a:ext cx="231769" cy="23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5407" y="3741837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第一階段：場域擴散</a:t>
            </a:r>
            <a:endParaRPr lang="zh-CN" sz="2150" dirty="0"/>
          </a:p>
        </p:txBody>
      </p:sp>
      <p:sp>
        <p:nvSpPr>
          <p:cNvPr id="8" name="Text 5"/>
          <p:cNvSpPr/>
          <p:nvPr/>
        </p:nvSpPr>
        <p:spPr>
          <a:xfrm>
            <a:off x="695407" y="4181574"/>
            <a:ext cx="329130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導入更多站點與維運團隊，讓 Teams 成為全域物料管理入口。</a:t>
            </a:r>
            <a:endParaRPr lang="zh-CN" sz="1200" dirty="0"/>
          </a:p>
        </p:txBody>
      </p:sp>
      <p:sp>
        <p:nvSpPr>
          <p:cNvPr id="9" name="Shape 6"/>
          <p:cNvSpPr/>
          <p:nvPr/>
        </p:nvSpPr>
        <p:spPr>
          <a:xfrm>
            <a:off x="4527437" y="3046413"/>
            <a:ext cx="3368392" cy="154484"/>
          </a:xfrm>
          <a:prstGeom prst="roundRect">
            <a:avLst>
              <a:gd name="adj" fmla="val 150083"/>
            </a:avLst>
          </a:prstGeom>
          <a:solidFill>
            <a:srgbClr val="ECDFE3"/>
          </a:solidFill>
          <a:ln/>
        </p:spPr>
      </p:sp>
      <p:sp>
        <p:nvSpPr>
          <p:cNvPr id="10" name="Shape 7"/>
          <p:cNvSpPr/>
          <p:nvPr/>
        </p:nvSpPr>
        <p:spPr>
          <a:xfrm>
            <a:off x="4295668" y="2891780"/>
            <a:ext cx="463638" cy="463649"/>
          </a:xfrm>
          <a:prstGeom prst="roundRect">
            <a:avLst>
              <a:gd name="adj" fmla="val 82174"/>
            </a:avLst>
          </a:prstGeom>
          <a:solidFill>
            <a:srgbClr val="ECDF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552" y="3007668"/>
            <a:ext cx="231769" cy="2317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0147" y="3509963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第二階段：能力升級</a:t>
            </a:r>
            <a:endParaRPr lang="zh-CN" sz="2150" dirty="0"/>
          </a:p>
        </p:txBody>
      </p:sp>
      <p:sp>
        <p:nvSpPr>
          <p:cNvPr id="13" name="Text 9"/>
          <p:cNvSpPr/>
          <p:nvPr/>
        </p:nvSpPr>
        <p:spPr>
          <a:xfrm>
            <a:off x="4450147" y="3949700"/>
            <a:ext cx="329130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分析障礙類型，主動推薦備料與最近倉儲位置，從被動查詢升級為智慧建議。</a:t>
            </a:r>
            <a:endParaRPr lang="zh-CN" sz="1200" dirty="0"/>
          </a:p>
        </p:txBody>
      </p:sp>
      <p:sp>
        <p:nvSpPr>
          <p:cNvPr id="14" name="Shape 10"/>
          <p:cNvSpPr/>
          <p:nvPr/>
        </p:nvSpPr>
        <p:spPr>
          <a:xfrm>
            <a:off x="8282177" y="2814638"/>
            <a:ext cx="3368392" cy="154484"/>
          </a:xfrm>
          <a:prstGeom prst="roundRect">
            <a:avLst>
              <a:gd name="adj" fmla="val 150083"/>
            </a:avLst>
          </a:prstGeom>
          <a:solidFill>
            <a:srgbClr val="ECDFE3"/>
          </a:solidFill>
          <a:ln/>
        </p:spPr>
      </p:sp>
      <p:sp>
        <p:nvSpPr>
          <p:cNvPr id="15" name="Shape 11"/>
          <p:cNvSpPr/>
          <p:nvPr/>
        </p:nvSpPr>
        <p:spPr>
          <a:xfrm>
            <a:off x="8050408" y="2660005"/>
            <a:ext cx="463638" cy="463649"/>
          </a:xfrm>
          <a:prstGeom prst="roundRect">
            <a:avLst>
              <a:gd name="adj" fmla="val 82174"/>
            </a:avLst>
          </a:prstGeom>
          <a:solidFill>
            <a:srgbClr val="ECDF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6293" y="2775893"/>
            <a:ext cx="231769" cy="2317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4888" y="3278188"/>
            <a:ext cx="277736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第三階段：智慧決策</a:t>
            </a:r>
            <a:endParaRPr lang="zh-CN" sz="2150" dirty="0"/>
          </a:p>
        </p:txBody>
      </p:sp>
      <p:sp>
        <p:nvSpPr>
          <p:cNvPr id="18" name="Text 13"/>
          <p:cNvSpPr/>
          <p:nvPr/>
        </p:nvSpPr>
        <p:spPr>
          <a:xfrm>
            <a:off x="8204888" y="3717925"/>
            <a:ext cx="329130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結合工單與歷史紀錄，AI 預測物料風險與補料需求，升級為智慧維運決策平台。</a:t>
            </a:r>
            <a:endParaRPr lang="zh-CN" sz="1200" dirty="0"/>
          </a:p>
        </p:txBody>
      </p:sp>
      <p:sp>
        <p:nvSpPr>
          <p:cNvPr id="19" name="Shape 14"/>
          <p:cNvSpPr/>
          <p:nvPr/>
        </p:nvSpPr>
        <p:spPr>
          <a:xfrm>
            <a:off x="540927" y="5004395"/>
            <a:ext cx="11109841" cy="618034"/>
          </a:xfrm>
          <a:prstGeom prst="roundRect">
            <a:avLst>
              <a:gd name="adj" fmla="val 37515"/>
            </a:avLst>
          </a:prstGeom>
          <a:solidFill>
            <a:srgbClr val="ECDFE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07" y="5220990"/>
            <a:ext cx="193174" cy="1544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43061" y="5197475"/>
            <a:ext cx="11062812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我們不是做一套系統，而是打造一個能落地、可擴散的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智慧維運物料管理模式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。</a:t>
            </a:r>
            <a:endParaRPr lang="zh-C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2026-06-30T02:50:01Z</dcterms:created>
  <dcterms:modified xsi:type="dcterms:W3CDTF">2026-06-30T02:50:01Z</dcterms:modified>
</cp:coreProperties>
</file>