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93473" r:id="rId4"/>
    <p:sldMasterId id="2147493497" r:id="rId5"/>
  </p:sldMasterIdLst>
  <p:notesMasterIdLst>
    <p:notesMasterId r:id="rId11"/>
  </p:notesMasterIdLst>
  <p:sldIdLst>
    <p:sldId id="358" r:id="rId6"/>
    <p:sldId id="359" r:id="rId7"/>
    <p:sldId id="360" r:id="rId8"/>
    <p:sldId id="361" r:id="rId9"/>
    <p:sldId id="362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6969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89" autoAdjust="0"/>
    <p:restoredTop sz="94660"/>
  </p:normalViewPr>
  <p:slideViewPr>
    <p:cSldViewPr snapToGrid="0" snapToObjects="1">
      <p:cViewPr varScale="1">
        <p:scale>
          <a:sx n="139" d="100"/>
          <a:sy n="139" d="100"/>
        </p:scale>
        <p:origin x="408" y="14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96" d="100"/>
        <a:sy n="39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D823C-E2D9-4391-A6AB-6F9129B7CBC9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C530DD-5851-4E95-AA59-124A48AD34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956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62C6B1BE-DA6F-4D18-9578-3964225CA8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3233" y="2384757"/>
            <a:ext cx="6215738" cy="5205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6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簡報主題</a:t>
            </a:r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EE3FC0AF-0FBD-4372-9D37-F2ACF61EBA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3233" y="3237349"/>
            <a:ext cx="5109409" cy="2646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簡報者</a:t>
            </a:r>
          </a:p>
        </p:txBody>
      </p:sp>
    </p:spTree>
    <p:extLst>
      <p:ext uri="{BB962C8B-B14F-4D97-AF65-F5344CB8AC3E}">
        <p14:creationId xmlns:p14="http://schemas.microsoft.com/office/powerpoint/2010/main" val="980201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ne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字版面配置區 2">
            <a:extLst>
              <a:ext uri="{FF2B5EF4-FFF2-40B4-BE49-F238E27FC236}">
                <a16:creationId xmlns:a16="http://schemas.microsoft.com/office/drawing/2014/main" id="{A9437281-157C-46B0-935F-C586A8ECB2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8616" y="1153875"/>
            <a:ext cx="5871397" cy="53912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l">
              <a:buNone/>
              <a:defRPr sz="40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Agenda</a:t>
            </a:r>
            <a:endParaRPr lang="zh-TW" altLang="en-US" dirty="0"/>
          </a:p>
        </p:txBody>
      </p:sp>
      <p:sp>
        <p:nvSpPr>
          <p:cNvPr id="9" name="文字版面配置區 2">
            <a:extLst>
              <a:ext uri="{FF2B5EF4-FFF2-40B4-BE49-F238E27FC236}">
                <a16:creationId xmlns:a16="http://schemas.microsoft.com/office/drawing/2014/main" id="{A9437281-157C-46B0-935F-C586A8ECB2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28616" y="2330340"/>
            <a:ext cx="5871397" cy="1657044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457200" indent="-457200" algn="l">
              <a:buFontTx/>
              <a:buBlip>
                <a:blip r:embed="rId2"/>
              </a:buBlip>
              <a:defRPr sz="28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議題一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252639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836319"/>
            <a:ext cx="9144000" cy="307181"/>
          </a:xfrm>
          <a:prstGeom prst="rect">
            <a:avLst/>
          </a:prstGeom>
        </p:spPr>
      </p:pic>
      <p:sp>
        <p:nvSpPr>
          <p:cNvPr id="14" name="投影片編號版面配置區 4">
            <a:extLst>
              <a:ext uri="{FF2B5EF4-FFF2-40B4-BE49-F238E27FC236}">
                <a16:creationId xmlns:a16="http://schemas.microsoft.com/office/drawing/2014/main" id="{86FF2DB7-0E33-40C7-858D-B68FBFA55B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720" y="4855464"/>
            <a:ext cx="47000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b="0" kern="1200">
                <a:solidFill>
                  <a:srgbClr val="69696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A23C4-5B59-48EB-9166-D95BA49D025A}" type="slidenum">
              <a:rPr lang="zh-TW" altLang="en-US" smtClean="0"/>
              <a:pPr/>
              <a:t>‹#›</a:t>
            </a:fld>
            <a:endParaRPr lang="en-US" dirty="0"/>
          </a:p>
        </p:txBody>
      </p:sp>
      <p:sp>
        <p:nvSpPr>
          <p:cNvPr id="17" name="文字版面配置區 2">
            <a:extLst>
              <a:ext uri="{FF2B5EF4-FFF2-40B4-BE49-F238E27FC236}">
                <a16:creationId xmlns:a16="http://schemas.microsoft.com/office/drawing/2014/main" id="{A9437281-157C-46B0-935F-C586A8ECB2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1102" y="291678"/>
            <a:ext cx="5109409" cy="53912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標題</a:t>
            </a:r>
          </a:p>
        </p:txBody>
      </p:sp>
      <p:sp>
        <p:nvSpPr>
          <p:cNvPr id="20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102" y="1076528"/>
            <a:ext cx="7893843" cy="352871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2" name="圖片 1" descr="一張含有 螢幕擷取畫面, 圖形, 平面設計, 設計 的圖片&#10;&#10;自動產生的描述">
            <a:extLst>
              <a:ext uri="{FF2B5EF4-FFF2-40B4-BE49-F238E27FC236}">
                <a16:creationId xmlns:a16="http://schemas.microsoft.com/office/drawing/2014/main" id="{11721961-DA8F-58F3-7677-2E1499E86FB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2904" y="160489"/>
            <a:ext cx="1126430" cy="40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715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461C47C7-3AEF-EDE0-C3D6-4C13B93B87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836319"/>
            <a:ext cx="9144000" cy="307181"/>
          </a:xfrm>
          <a:prstGeom prst="rect">
            <a:avLst/>
          </a:prstGeom>
        </p:spPr>
      </p:pic>
      <p:sp>
        <p:nvSpPr>
          <p:cNvPr id="14" name="投影片編號版面配置區 4">
            <a:extLst>
              <a:ext uri="{FF2B5EF4-FFF2-40B4-BE49-F238E27FC236}">
                <a16:creationId xmlns:a16="http://schemas.microsoft.com/office/drawing/2014/main" id="{86FF2DB7-0E33-40C7-858D-B68FBFA55B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720" y="4855464"/>
            <a:ext cx="47000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b="0" kern="1200">
                <a:solidFill>
                  <a:srgbClr val="69696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A23C4-5B59-48EB-9166-D95BA49D025A}" type="slidenum">
              <a:rPr lang="zh-TW" altLang="en-US" smtClean="0"/>
              <a:pPr/>
              <a:t>‹#›</a:t>
            </a:fld>
            <a:endParaRPr lang="en-US" dirty="0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A9437281-157C-46B0-935F-C586A8ECB2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1102" y="291678"/>
            <a:ext cx="5109409" cy="5391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標題</a:t>
            </a:r>
          </a:p>
        </p:txBody>
      </p:sp>
      <p:sp>
        <p:nvSpPr>
          <p:cNvPr id="7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102" y="1076528"/>
            <a:ext cx="3801741" cy="3528719"/>
          </a:xfrm>
          <a:prstGeom prst="rect">
            <a:avLst/>
          </a:prstGeom>
        </p:spPr>
        <p:txBody>
          <a:bodyPr/>
          <a:lstStyle>
            <a:lvl1pPr algn="l"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algn="l"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algn="l"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algn="l"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algn="l"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32659" y="1076528"/>
            <a:ext cx="3801741" cy="352871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3" name="圖片 2" descr="一張含有 螢幕擷取畫面, 圖形, 平面設計, 設計 的圖片&#10;&#10;自動產生的描述">
            <a:extLst>
              <a:ext uri="{FF2B5EF4-FFF2-40B4-BE49-F238E27FC236}">
                <a16:creationId xmlns:a16="http://schemas.microsoft.com/office/drawing/2014/main" id="{0A2FA373-8B5C-7E31-B4FC-8D52C85B13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2904" y="160489"/>
            <a:ext cx="1126430" cy="40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993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E602F459-7D41-36F3-8EC9-B176114E5B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836319"/>
            <a:ext cx="9144000" cy="307181"/>
          </a:xfrm>
          <a:prstGeom prst="rect">
            <a:avLst/>
          </a:prstGeom>
        </p:spPr>
      </p:pic>
      <p:sp>
        <p:nvSpPr>
          <p:cNvPr id="14" name="投影片編號版面配置區 4">
            <a:extLst>
              <a:ext uri="{FF2B5EF4-FFF2-40B4-BE49-F238E27FC236}">
                <a16:creationId xmlns:a16="http://schemas.microsoft.com/office/drawing/2014/main" id="{86FF2DB7-0E33-40C7-858D-B68FBFA55B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720" y="4855464"/>
            <a:ext cx="47000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b="0" kern="1200">
                <a:solidFill>
                  <a:srgbClr val="69696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A23C4-5B59-48EB-9166-D95BA49D025A}" type="slidenum">
              <a:rPr lang="zh-TW" altLang="en-US" smtClean="0"/>
              <a:pPr/>
              <a:t>‹#›</a:t>
            </a:fld>
            <a:endParaRPr lang="en-US" dirty="0"/>
          </a:p>
        </p:txBody>
      </p:sp>
      <p:sp>
        <p:nvSpPr>
          <p:cNvPr id="9" name="文字版面配置區 2">
            <a:extLst>
              <a:ext uri="{FF2B5EF4-FFF2-40B4-BE49-F238E27FC236}">
                <a16:creationId xmlns:a16="http://schemas.microsoft.com/office/drawing/2014/main" id="{A9437281-157C-46B0-935F-C586A8ECB2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1102" y="291678"/>
            <a:ext cx="5109409" cy="5391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標題</a:t>
            </a:r>
          </a:p>
        </p:txBody>
      </p:sp>
      <p:sp>
        <p:nvSpPr>
          <p:cNvPr id="10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102" y="1076528"/>
            <a:ext cx="7885816" cy="168915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1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1102" y="2928240"/>
            <a:ext cx="7885816" cy="168915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3" name="圖片 2" descr="一張含有 螢幕擷取畫面, 圖形, 平面設計, 設計 的圖片&#10;&#10;自動產生的描述">
            <a:extLst>
              <a:ext uri="{FF2B5EF4-FFF2-40B4-BE49-F238E27FC236}">
                <a16:creationId xmlns:a16="http://schemas.microsoft.com/office/drawing/2014/main" id="{DD3914E1-B72E-418F-7E37-777B3AEA06B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2904" y="160489"/>
            <a:ext cx="1126430" cy="40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707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7B122655-25FA-538A-5606-89C233F94D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836319"/>
            <a:ext cx="9144000" cy="307181"/>
          </a:xfrm>
          <a:prstGeom prst="rect">
            <a:avLst/>
          </a:prstGeom>
        </p:spPr>
      </p:pic>
      <p:sp>
        <p:nvSpPr>
          <p:cNvPr id="14" name="投影片編號版面配置區 4">
            <a:extLst>
              <a:ext uri="{FF2B5EF4-FFF2-40B4-BE49-F238E27FC236}">
                <a16:creationId xmlns:a16="http://schemas.microsoft.com/office/drawing/2014/main" id="{86FF2DB7-0E33-40C7-858D-B68FBFA55B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720" y="4855464"/>
            <a:ext cx="47000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b="0" kern="1200">
                <a:solidFill>
                  <a:srgbClr val="69696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A23C4-5B59-48EB-9166-D95BA49D025A}" type="slidenum">
              <a:rPr lang="zh-TW" altLang="en-US" smtClean="0"/>
              <a:pPr/>
              <a:t>‹#›</a:t>
            </a:fld>
            <a:endParaRPr lang="en-US" dirty="0"/>
          </a:p>
        </p:txBody>
      </p:sp>
      <p:sp>
        <p:nvSpPr>
          <p:cNvPr id="7" name="文字版面配置區 2">
            <a:extLst>
              <a:ext uri="{FF2B5EF4-FFF2-40B4-BE49-F238E27FC236}">
                <a16:creationId xmlns:a16="http://schemas.microsoft.com/office/drawing/2014/main" id="{A9437281-157C-46B0-935F-C586A8ECB2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1102" y="291678"/>
            <a:ext cx="5109409" cy="5391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標題</a:t>
            </a:r>
          </a:p>
        </p:txBody>
      </p:sp>
      <p:sp>
        <p:nvSpPr>
          <p:cNvPr id="8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102" y="1076528"/>
            <a:ext cx="2294485" cy="352871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2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4757" y="1076528"/>
            <a:ext cx="2294485" cy="352871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3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28412" y="1076528"/>
            <a:ext cx="2294485" cy="352871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 descr="一張含有 螢幕擷取畫面, 圖形, 平面設計, 設計 的圖片&#10;&#10;自動產生的描述">
            <a:extLst>
              <a:ext uri="{FF2B5EF4-FFF2-40B4-BE49-F238E27FC236}">
                <a16:creationId xmlns:a16="http://schemas.microsoft.com/office/drawing/2014/main" id="{A72B30AB-EAA6-61D1-C44D-E3741477F91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2904" y="160489"/>
            <a:ext cx="1126430" cy="40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480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1D93FF71-3B94-C154-E843-D50B4E1A4A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836319"/>
            <a:ext cx="9144000" cy="307181"/>
          </a:xfrm>
          <a:prstGeom prst="rect">
            <a:avLst/>
          </a:prstGeom>
        </p:spPr>
      </p:pic>
      <p:sp>
        <p:nvSpPr>
          <p:cNvPr id="14" name="投影片編號版面配置區 4">
            <a:extLst>
              <a:ext uri="{FF2B5EF4-FFF2-40B4-BE49-F238E27FC236}">
                <a16:creationId xmlns:a16="http://schemas.microsoft.com/office/drawing/2014/main" id="{86FF2DB7-0E33-40C7-858D-B68FBFA55B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720" y="4855464"/>
            <a:ext cx="47000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b="0" kern="1200">
                <a:solidFill>
                  <a:srgbClr val="69696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A23C4-5B59-48EB-9166-D95BA49D025A}" type="slidenum">
              <a:rPr lang="zh-TW" altLang="en-US" smtClean="0"/>
              <a:pPr/>
              <a:t>‹#›</a:t>
            </a:fld>
            <a:endParaRPr lang="en-US" dirty="0"/>
          </a:p>
        </p:txBody>
      </p:sp>
      <p:pic>
        <p:nvPicPr>
          <p:cNvPr id="3" name="圖片 2" descr="一張含有 螢幕擷取畫面, 圖形, 平面設計, 設計 的圖片&#10;&#10;自動產生的描述">
            <a:extLst>
              <a:ext uri="{FF2B5EF4-FFF2-40B4-BE49-F238E27FC236}">
                <a16:creationId xmlns:a16="http://schemas.microsoft.com/office/drawing/2014/main" id="{13D4B4AE-5572-5DAC-090B-B52D2B0CA6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2904" y="160489"/>
            <a:ext cx="1126430" cy="40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360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972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836319"/>
            <a:ext cx="9144000" cy="307181"/>
          </a:xfrm>
          <a:prstGeom prst="rect">
            <a:avLst/>
          </a:prstGeom>
        </p:spPr>
      </p:pic>
      <p:sp>
        <p:nvSpPr>
          <p:cNvPr id="14" name="投影片編號版面配置區 4">
            <a:extLst>
              <a:ext uri="{FF2B5EF4-FFF2-40B4-BE49-F238E27FC236}">
                <a16:creationId xmlns:a16="http://schemas.microsoft.com/office/drawing/2014/main" id="{86FF2DB7-0E33-40C7-858D-B68FBFA55B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720" y="4855464"/>
            <a:ext cx="47000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b="0" kern="1200">
                <a:solidFill>
                  <a:srgbClr val="69696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A23C4-5B59-48EB-9166-D95BA49D025A}" type="slidenum">
              <a:rPr lang="zh-TW" altLang="en-US" smtClean="0"/>
              <a:pPr/>
              <a:t>‹#›</a:t>
            </a:fld>
            <a:endParaRPr lang="en-US" dirty="0"/>
          </a:p>
        </p:txBody>
      </p:sp>
      <p:sp>
        <p:nvSpPr>
          <p:cNvPr id="17" name="文字版面配置區 2">
            <a:extLst>
              <a:ext uri="{FF2B5EF4-FFF2-40B4-BE49-F238E27FC236}">
                <a16:creationId xmlns:a16="http://schemas.microsoft.com/office/drawing/2014/main" id="{A9437281-157C-46B0-935F-C586A8ECB2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1102" y="291678"/>
            <a:ext cx="5109409" cy="53912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標題</a:t>
            </a:r>
          </a:p>
        </p:txBody>
      </p:sp>
      <p:sp>
        <p:nvSpPr>
          <p:cNvPr id="20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102" y="1076528"/>
            <a:ext cx="7893843" cy="352871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507782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461C47C7-3AEF-EDE0-C3D6-4C13B93B87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836319"/>
            <a:ext cx="9144000" cy="307181"/>
          </a:xfrm>
          <a:prstGeom prst="rect">
            <a:avLst/>
          </a:prstGeom>
        </p:spPr>
      </p:pic>
      <p:sp>
        <p:nvSpPr>
          <p:cNvPr id="14" name="投影片編號版面配置區 4">
            <a:extLst>
              <a:ext uri="{FF2B5EF4-FFF2-40B4-BE49-F238E27FC236}">
                <a16:creationId xmlns:a16="http://schemas.microsoft.com/office/drawing/2014/main" id="{86FF2DB7-0E33-40C7-858D-B68FBFA55B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720" y="4855464"/>
            <a:ext cx="47000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b="0" kern="1200">
                <a:solidFill>
                  <a:srgbClr val="69696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A23C4-5B59-48EB-9166-D95BA49D025A}" type="slidenum">
              <a:rPr lang="zh-TW" altLang="en-US" smtClean="0"/>
              <a:pPr/>
              <a:t>‹#›</a:t>
            </a:fld>
            <a:endParaRPr lang="en-US" dirty="0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A9437281-157C-46B0-935F-C586A8ECB2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1102" y="291678"/>
            <a:ext cx="5109409" cy="5391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標題</a:t>
            </a:r>
          </a:p>
        </p:txBody>
      </p:sp>
      <p:sp>
        <p:nvSpPr>
          <p:cNvPr id="7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102" y="1076528"/>
            <a:ext cx="3801741" cy="3528719"/>
          </a:xfrm>
          <a:prstGeom prst="rect">
            <a:avLst/>
          </a:prstGeom>
        </p:spPr>
        <p:txBody>
          <a:bodyPr/>
          <a:lstStyle>
            <a:lvl1pPr algn="l"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algn="l"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algn="l"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algn="l"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algn="l"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32659" y="1076528"/>
            <a:ext cx="3801741" cy="352871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689609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E602F459-7D41-36F3-8EC9-B176114E5B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836319"/>
            <a:ext cx="9144000" cy="307181"/>
          </a:xfrm>
          <a:prstGeom prst="rect">
            <a:avLst/>
          </a:prstGeom>
        </p:spPr>
      </p:pic>
      <p:sp>
        <p:nvSpPr>
          <p:cNvPr id="14" name="投影片編號版面配置區 4">
            <a:extLst>
              <a:ext uri="{FF2B5EF4-FFF2-40B4-BE49-F238E27FC236}">
                <a16:creationId xmlns:a16="http://schemas.microsoft.com/office/drawing/2014/main" id="{86FF2DB7-0E33-40C7-858D-B68FBFA55B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720" y="4855464"/>
            <a:ext cx="47000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b="0" kern="1200">
                <a:solidFill>
                  <a:srgbClr val="69696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A23C4-5B59-48EB-9166-D95BA49D025A}" type="slidenum">
              <a:rPr lang="zh-TW" altLang="en-US" smtClean="0"/>
              <a:pPr/>
              <a:t>‹#›</a:t>
            </a:fld>
            <a:endParaRPr lang="en-US" dirty="0"/>
          </a:p>
        </p:txBody>
      </p:sp>
      <p:sp>
        <p:nvSpPr>
          <p:cNvPr id="9" name="文字版面配置區 2">
            <a:extLst>
              <a:ext uri="{FF2B5EF4-FFF2-40B4-BE49-F238E27FC236}">
                <a16:creationId xmlns:a16="http://schemas.microsoft.com/office/drawing/2014/main" id="{A9437281-157C-46B0-935F-C586A8ECB2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1102" y="291678"/>
            <a:ext cx="5109409" cy="5391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標題</a:t>
            </a:r>
          </a:p>
        </p:txBody>
      </p:sp>
      <p:sp>
        <p:nvSpPr>
          <p:cNvPr id="10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102" y="1076528"/>
            <a:ext cx="7885816" cy="168915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1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1102" y="2928240"/>
            <a:ext cx="7885816" cy="168915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5182054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7B122655-25FA-538A-5606-89C233F94D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836319"/>
            <a:ext cx="9144000" cy="307181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投影片編號版面配置區 4">
            <a:extLst>
              <a:ext uri="{FF2B5EF4-FFF2-40B4-BE49-F238E27FC236}">
                <a16:creationId xmlns:a16="http://schemas.microsoft.com/office/drawing/2014/main" id="{86FF2DB7-0E33-40C7-858D-B68FBFA55B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720" y="4855464"/>
            <a:ext cx="47000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b="0" kern="1200">
                <a:solidFill>
                  <a:srgbClr val="69696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A23C4-5B59-48EB-9166-D95BA49D025A}" type="slidenum">
              <a:rPr lang="zh-TW" altLang="en-US" smtClean="0"/>
              <a:pPr/>
              <a:t>‹#›</a:t>
            </a:fld>
            <a:endParaRPr lang="en-US" dirty="0"/>
          </a:p>
        </p:txBody>
      </p:sp>
      <p:sp>
        <p:nvSpPr>
          <p:cNvPr id="7" name="文字版面配置區 2">
            <a:extLst>
              <a:ext uri="{FF2B5EF4-FFF2-40B4-BE49-F238E27FC236}">
                <a16:creationId xmlns:a16="http://schemas.microsoft.com/office/drawing/2014/main" id="{A9437281-157C-46B0-935F-C586A8ECB2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1102" y="291678"/>
            <a:ext cx="5109409" cy="5391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標題</a:t>
            </a:r>
          </a:p>
        </p:txBody>
      </p:sp>
      <p:sp>
        <p:nvSpPr>
          <p:cNvPr id="8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102" y="1076528"/>
            <a:ext cx="2294485" cy="352871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2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4757" y="1076528"/>
            <a:ext cx="2294485" cy="352871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3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28412" y="1076528"/>
            <a:ext cx="2294485" cy="352871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408021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1D93FF71-3B94-C154-E843-D50B4E1A4A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836319"/>
            <a:ext cx="9144000" cy="307181"/>
          </a:xfrm>
          <a:prstGeom prst="rect">
            <a:avLst/>
          </a:prstGeom>
        </p:spPr>
      </p:pic>
      <p:sp>
        <p:nvSpPr>
          <p:cNvPr id="14" name="投影片編號版面配置區 4">
            <a:extLst>
              <a:ext uri="{FF2B5EF4-FFF2-40B4-BE49-F238E27FC236}">
                <a16:creationId xmlns:a16="http://schemas.microsoft.com/office/drawing/2014/main" id="{86FF2DB7-0E33-40C7-858D-B68FBFA55B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720" y="4855464"/>
            <a:ext cx="47000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b="0" kern="1200">
                <a:solidFill>
                  <a:srgbClr val="69696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A23C4-5B59-48EB-9166-D95BA49D025A}" type="slidenum">
              <a:rPr lang="zh-TW" alt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770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9473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74" r:id="rId1"/>
    <p:sldLayoutId id="2147493488" r:id="rId2"/>
    <p:sldLayoutId id="2147493485" r:id="rId3"/>
    <p:sldLayoutId id="2147493493" r:id="rId4"/>
    <p:sldLayoutId id="2147493494" r:id="rId5"/>
    <p:sldLayoutId id="2147493495" r:id="rId6"/>
    <p:sldLayoutId id="2147493496" r:id="rId7"/>
    <p:sldLayoutId id="2147493482" r:id="rId8"/>
  </p:sldLayoutIdLst>
  <p:hf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8136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500" r:id="rId1"/>
    <p:sldLayoutId id="2147493501" r:id="rId2"/>
    <p:sldLayoutId id="2147493502" r:id="rId3"/>
    <p:sldLayoutId id="2147493503" r:id="rId4"/>
    <p:sldLayoutId id="2147493504" r:id="rId5"/>
  </p:sldLayoutIdLst>
  <p:hf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07CBB-58A4-1C45-19EF-592EF1FB8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 descr="一張含有 文字, 筆跡, 白板, 設備 的圖片&#10;&#10;AI 產生的內容可能不正確。">
            <a:extLst>
              <a:ext uri="{FF2B5EF4-FFF2-40B4-BE49-F238E27FC236}">
                <a16:creationId xmlns:a16="http://schemas.microsoft.com/office/drawing/2014/main" id="{4AF0162C-A761-98D0-AC39-2F92DD2F0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242" y="1975392"/>
            <a:ext cx="4255038" cy="1414718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DDC44C7-4842-DDBB-E941-411B395352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8A23C4-5B59-48EB-9166-D95BA49D025A}" type="slidenum">
              <a:rPr lang="zh-TW" altLang="en-US" smtClean="0"/>
              <a:pPr/>
              <a:t>0</a:t>
            </a:fld>
            <a:endParaRPr lang="en-US" dirty="0"/>
          </a:p>
        </p:txBody>
      </p:sp>
      <p:grpSp>
        <p:nvGrpSpPr>
          <p:cNvPr id="5" name="Group 29">
            <a:extLst>
              <a:ext uri="{FF2B5EF4-FFF2-40B4-BE49-F238E27FC236}">
                <a16:creationId xmlns:a16="http://schemas.microsoft.com/office/drawing/2014/main" id="{429A41E2-D9EA-F6DE-E075-6D05C2DA563C}"/>
              </a:ext>
            </a:extLst>
          </p:cNvPr>
          <p:cNvGrpSpPr>
            <a:grpSpLocks/>
          </p:cNvGrpSpPr>
          <p:nvPr/>
        </p:nvGrpSpPr>
        <p:grpSpPr bwMode="auto">
          <a:xfrm>
            <a:off x="458654" y="52378"/>
            <a:ext cx="6213474" cy="461342"/>
            <a:chOff x="1170" y="1713"/>
            <a:chExt cx="3798" cy="447"/>
          </a:xfrm>
        </p:grpSpPr>
        <p:sp>
          <p:nvSpPr>
            <p:cNvPr id="6" name="Rectangle 30">
              <a:extLst>
                <a:ext uri="{FF2B5EF4-FFF2-40B4-BE49-F238E27FC236}">
                  <a16:creationId xmlns:a16="http://schemas.microsoft.com/office/drawing/2014/main" id="{5B06A66C-4BC3-33E7-07E8-A6603D3E978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77" y="1727"/>
              <a:ext cx="3591" cy="425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" name="Freeform 31">
              <a:extLst>
                <a:ext uri="{FF2B5EF4-FFF2-40B4-BE49-F238E27FC236}">
                  <a16:creationId xmlns:a16="http://schemas.microsoft.com/office/drawing/2014/main" id="{C630F6B4-8B2B-1EDC-6E0E-3224FC26A158}"/>
                </a:ext>
              </a:extLst>
            </p:cNvPr>
            <p:cNvSpPr>
              <a:spLocks/>
            </p:cNvSpPr>
            <p:nvPr/>
          </p:nvSpPr>
          <p:spPr bwMode="gray">
            <a:xfrm>
              <a:off x="1170" y="1713"/>
              <a:ext cx="796" cy="443"/>
            </a:xfrm>
            <a:custGeom>
              <a:avLst/>
              <a:gdLst>
                <a:gd name="T0" fmla="*/ 2 w 1334"/>
                <a:gd name="T1" fmla="*/ 0 h 491"/>
                <a:gd name="T2" fmla="*/ 0 w 1334"/>
                <a:gd name="T3" fmla="*/ 491 h 491"/>
                <a:gd name="T4" fmla="*/ 872 w 1334"/>
                <a:gd name="T5" fmla="*/ 491 h 491"/>
                <a:gd name="T6" fmla="*/ 1334 w 1334"/>
                <a:gd name="T7" fmla="*/ 0 h 491"/>
                <a:gd name="T8" fmla="*/ 2 w 1334"/>
                <a:gd name="T9" fmla="*/ 0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4" h="491">
                  <a:moveTo>
                    <a:pt x="2" y="0"/>
                  </a:moveTo>
                  <a:lnTo>
                    <a:pt x="0" y="491"/>
                  </a:lnTo>
                  <a:lnTo>
                    <a:pt x="872" y="491"/>
                  </a:lnTo>
                  <a:lnTo>
                    <a:pt x="1334" y="0"/>
                  </a:lnTo>
                  <a:lnTo>
                    <a:pt x="2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2DAAC8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" name="Text Box 32">
              <a:extLst>
                <a:ext uri="{FF2B5EF4-FFF2-40B4-BE49-F238E27FC236}">
                  <a16:creationId xmlns:a16="http://schemas.microsoft.com/office/drawing/2014/main" id="{8C842FA8-AC51-1304-268F-DBD6C9EF0B78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70" y="1772"/>
              <a:ext cx="206" cy="388"/>
            </a:xfrm>
            <a:prstGeom prst="rect">
              <a:avLst/>
            </a:prstGeom>
            <a:noFill/>
            <a:ln>
              <a:noFill/>
            </a:ln>
            <a:effectLst>
              <a:outerShdw dist="85194" dir="1593903" algn="ctr" rotWithShape="0">
                <a:schemeClr val="tx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2DAAC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latinLnBrk="1"/>
              <a:r>
                <a:rPr kumimoji="1" lang="en-US" altLang="ko-KR" sz="2000" b="1" dirty="0">
                  <a:solidFill>
                    <a:srgbClr val="E6E6E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6</a:t>
              </a:r>
            </a:p>
          </p:txBody>
        </p:sp>
        <p:sp>
          <p:nvSpPr>
            <p:cNvPr id="9" name="Text Box 33">
              <a:extLst>
                <a:ext uri="{FF2B5EF4-FFF2-40B4-BE49-F238E27FC236}">
                  <a16:creationId xmlns:a16="http://schemas.microsoft.com/office/drawing/2014/main" id="{C3224810-F364-E49B-1DDA-3CB80EE5709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966" y="1780"/>
              <a:ext cx="2736" cy="1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AC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342900" indent="-342900" eaLnBrk="0" hangingPunct="0">
                <a:buFont typeface="Arial" panose="020B0604020202020204" pitchFamily="34" charset="0"/>
                <a:buChar char="•"/>
              </a:pPr>
              <a:r>
                <a:rPr kumimoji="0" lang="zh-TW" altLang="en-US" sz="2000" b="1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主要成就</a:t>
              </a:r>
              <a:r>
                <a:rPr lang="en-US" altLang="zh-TW" sz="2000" b="1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&amp; </a:t>
              </a:r>
              <a:r>
                <a:rPr lang="zh-TW" altLang="en-US" sz="2000" b="1" dirty="0">
                  <a:solidFill>
                    <a:srgbClr val="0000CC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核心價值具體行為展現</a:t>
              </a:r>
              <a:endParaRPr lang="ko-KR" altLang="en-US" sz="20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0" name="內容版面配置區 3">
            <a:extLst>
              <a:ext uri="{FF2B5EF4-FFF2-40B4-BE49-F238E27FC236}">
                <a16:creationId xmlns:a16="http://schemas.microsoft.com/office/drawing/2014/main" id="{05D67CDD-245C-8199-7FD6-3CA0BD11816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" y="526126"/>
            <a:ext cx="9092381" cy="2401204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1200" b="1" dirty="0"/>
              <a:t>(</a:t>
            </a:r>
            <a:r>
              <a:rPr lang="zh-TW" altLang="en-US" sz="1200" b="1" dirty="0"/>
              <a:t>五</a:t>
            </a:r>
            <a:r>
              <a:rPr lang="en-US" altLang="zh-TW" sz="1200" b="1" dirty="0"/>
              <a:t>)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[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關懷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/</a:t>
            </a:r>
            <a:r>
              <a:rPr lang="zh-TW" altLang="en-US" sz="1200" b="1" dirty="0"/>
              <a:t>創新</a:t>
            </a:r>
            <a:r>
              <a:rPr lang="en-US" altLang="zh-TW" sz="1200" b="1" dirty="0"/>
              <a:t>/</a:t>
            </a:r>
            <a:r>
              <a:rPr lang="zh-TW" altLang="en-US" sz="1200" b="1" dirty="0"/>
              <a:t>敏捷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]</a:t>
            </a:r>
            <a:r>
              <a:rPr lang="en-US" altLang="zh-TW" sz="1200" b="1" dirty="0"/>
              <a:t> AI</a:t>
            </a:r>
            <a:r>
              <a:rPr lang="zh-TW" altLang="en-US" sz="1200" b="1" dirty="0"/>
              <a:t>協助老花眼盤點</a:t>
            </a:r>
            <a:endParaRPr lang="en-US" altLang="zh-TW" sz="1200" b="1" dirty="0"/>
          </a:p>
          <a:p>
            <a:pPr marL="457200" lvl="1" indent="0">
              <a:buNone/>
            </a:pPr>
            <a:r>
              <a:rPr lang="zh-TW" altLang="en-US" sz="1200" dirty="0"/>
              <a:t>緣由 </a:t>
            </a:r>
            <a:r>
              <a:rPr lang="en-US" altLang="zh-TW" sz="1200" dirty="0"/>
              <a:t>:</a:t>
            </a:r>
          </a:p>
          <a:p>
            <a:pPr marL="457200" lvl="1" indent="0">
              <a:buNone/>
            </a:pPr>
            <a:r>
              <a:rPr lang="zh-TW" altLang="en-US" sz="1200" dirty="0"/>
              <a:t>人工盤點時卡板標籤字體細小，老花判讀不易，而且情況日益嚴重</a:t>
            </a:r>
            <a:r>
              <a:rPr lang="en-US" altLang="zh-TW" sz="1200" dirty="0"/>
              <a:t>(40y↑</a:t>
            </a:r>
            <a:r>
              <a:rPr lang="zh-TW" altLang="en-US" sz="1200" dirty="0"/>
              <a:t>年增</a:t>
            </a:r>
            <a:r>
              <a:rPr lang="en-US" altLang="zh-TW" sz="1200" dirty="0"/>
              <a:t>25</a:t>
            </a:r>
            <a:r>
              <a:rPr lang="zh-TW" altLang="en-US" sz="1200" dirty="0"/>
              <a:t>度</a:t>
            </a:r>
            <a:r>
              <a:rPr lang="en-US" altLang="zh-TW" sz="1200" dirty="0"/>
              <a:t>)</a:t>
            </a:r>
            <a:r>
              <a:rPr lang="zh-TW" altLang="en-US" sz="1200" dirty="0"/>
              <a:t>，另外手寫紀錄不便、資料回填 </a:t>
            </a:r>
            <a:r>
              <a:rPr lang="en-US" altLang="zh-TW" sz="1200" dirty="0"/>
              <a:t>Excel</a:t>
            </a:r>
            <a:r>
              <a:rPr lang="zh-TW" altLang="en-US" sz="1200" dirty="0"/>
              <a:t>容易出錯且耗時的問題，本專案開發了</a:t>
            </a:r>
            <a:r>
              <a:rPr lang="zh-TW" altLang="en-US" sz="1200" b="1" dirty="0">
                <a:solidFill>
                  <a:srgbClr val="0000FF"/>
                </a:solidFill>
              </a:rPr>
              <a:t>「</a:t>
            </a:r>
            <a:r>
              <a:rPr lang="en-US" altLang="zh-TW" sz="1200" b="1" dirty="0">
                <a:solidFill>
                  <a:srgbClr val="0000FF"/>
                </a:solidFill>
              </a:rPr>
              <a:t>AI</a:t>
            </a:r>
            <a:r>
              <a:rPr lang="zh-TW" altLang="en-US" sz="1200" b="1" dirty="0">
                <a:solidFill>
                  <a:srgbClr val="0000FF"/>
                </a:solidFill>
              </a:rPr>
              <a:t>協助盤點</a:t>
            </a:r>
            <a:r>
              <a:rPr lang="en-US" altLang="zh-TW" sz="1200" b="1" dirty="0">
                <a:solidFill>
                  <a:srgbClr val="0000FF"/>
                </a:solidFill>
              </a:rPr>
              <a:t>-</a:t>
            </a:r>
            <a:r>
              <a:rPr lang="zh-TW" altLang="en-US" sz="1200" b="1" dirty="0">
                <a:solidFill>
                  <a:srgbClr val="0000FF"/>
                </a:solidFill>
              </a:rPr>
              <a:t>老花助手」自動化機器人</a:t>
            </a:r>
            <a:r>
              <a:rPr lang="zh-TW" altLang="en-US" sz="1200" dirty="0"/>
              <a:t>。</a:t>
            </a:r>
            <a:endParaRPr lang="en-US" altLang="zh-TW" sz="1200" dirty="0"/>
          </a:p>
          <a:p>
            <a:pPr marL="457200" lvl="1" indent="0">
              <a:buNone/>
            </a:pPr>
            <a:r>
              <a:rPr lang="zh-TW" altLang="en-US" sz="1200" dirty="0"/>
              <a:t>目標 </a:t>
            </a:r>
            <a:r>
              <a:rPr lang="en-US" altLang="zh-TW" sz="1200" dirty="0"/>
              <a:t>:</a:t>
            </a:r>
          </a:p>
          <a:p>
            <a:pPr marL="457200" lvl="1" indent="0">
              <a:buNone/>
            </a:pPr>
            <a:r>
              <a:rPr lang="zh-TW" altLang="en-US" sz="1200" b="1" dirty="0">
                <a:solidFill>
                  <a:srgbClr val="0000FF"/>
                </a:solidFill>
              </a:rPr>
              <a:t>使用</a:t>
            </a:r>
            <a:r>
              <a:rPr lang="en-US" altLang="zh-TW" sz="1200" b="1" dirty="0">
                <a:solidFill>
                  <a:srgbClr val="0000FF"/>
                </a:solidFill>
              </a:rPr>
              <a:t>AI</a:t>
            </a:r>
            <a:r>
              <a:rPr lang="zh-TW" altLang="en-US" sz="1200" b="1" dirty="0">
                <a:solidFill>
                  <a:srgbClr val="0000FF"/>
                </a:solidFill>
              </a:rPr>
              <a:t>雙模輸入操作 </a:t>
            </a:r>
            <a:r>
              <a:rPr lang="en-US" altLang="zh-TW" sz="1200" dirty="0"/>
              <a:t>:</a:t>
            </a:r>
            <a:r>
              <a:rPr lang="zh-TW" altLang="en-US" sz="1200" dirty="0"/>
              <a:t> 系統需整合手機 </a:t>
            </a:r>
            <a:r>
              <a:rPr lang="en-US" altLang="zh-TW" sz="1200" dirty="0"/>
              <a:t>Teams </a:t>
            </a:r>
            <a:r>
              <a:rPr lang="zh-TW" altLang="en-US" sz="1200" dirty="0"/>
              <a:t>作為拍照與上傳介面，利用 </a:t>
            </a:r>
            <a:r>
              <a:rPr lang="en-US" altLang="zh-TW" sz="1200" dirty="0"/>
              <a:t>N8N </a:t>
            </a:r>
            <a:r>
              <a:rPr lang="zh-TW" altLang="en-US" sz="1200" dirty="0"/>
              <a:t>工作流 與嵌入 </a:t>
            </a:r>
            <a:r>
              <a:rPr lang="en-US" altLang="zh-TW" sz="1200" dirty="0"/>
              <a:t>AI </a:t>
            </a:r>
            <a:r>
              <a:rPr lang="zh-TW" altLang="en-US" sz="1200" dirty="0"/>
              <a:t>影像辨識 卡板料號 自動更新盤點清單 </a:t>
            </a:r>
            <a:r>
              <a:rPr lang="en-US" altLang="zh-TW" sz="1200" dirty="0"/>
              <a:t>Excel</a:t>
            </a:r>
            <a:r>
              <a:rPr lang="zh-TW" altLang="en-US" sz="1200" dirty="0"/>
              <a:t>電子檔 ， 提升作業效率與準確性。。</a:t>
            </a:r>
          </a:p>
          <a:p>
            <a:pPr marL="457200" lvl="1" indent="0">
              <a:buNone/>
            </a:pPr>
            <a:endParaRPr lang="en-US" altLang="zh-TW" sz="1200" dirty="0"/>
          </a:p>
          <a:p>
            <a:pPr marL="457200" lvl="1" indent="0">
              <a:buNone/>
            </a:pPr>
            <a:endParaRPr lang="zh-TW" altLang="en-US" sz="1200" dirty="0"/>
          </a:p>
          <a:p>
            <a:pPr marL="457200" lvl="1" indent="0">
              <a:buNone/>
            </a:pPr>
            <a:endParaRPr lang="en-US" altLang="zh-TW" sz="12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F797329-3661-FA26-0AF3-BE172339A717}"/>
              </a:ext>
            </a:extLst>
          </p:cNvPr>
          <p:cNvSpPr txBox="1"/>
          <p:nvPr/>
        </p:nvSpPr>
        <p:spPr>
          <a:xfrm>
            <a:off x="458653" y="1845019"/>
            <a:ext cx="841771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altLang="zh-TW" sz="1200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None/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核心技術架構 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pPr>
              <a:buNone/>
            </a:pPr>
            <a:r>
              <a:rPr lang="zh-TW" altLang="en-US" sz="1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多模態指令分流 </a:t>
            </a:r>
            <a:r>
              <a:rPr lang="en-US" altLang="zh-TW" sz="1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(Logic Branching)</a:t>
            </a:r>
          </a:p>
          <a:p>
            <a:pPr>
              <a:buNone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系統透過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If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節點 自動偵測用戶意圖：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盤點模式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：偵測到圖片上傳，啟動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辨識流程。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查詢模式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：偵測到關鍵字「目前盤點狀況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」，自動生成報表回傳。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Char char="•"/>
            </a:pP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None/>
            </a:pP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en-US" altLang="zh-TW" sz="1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 </a:t>
            </a:r>
            <a:r>
              <a:rPr lang="zh-TW" altLang="en-US" sz="1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影像辨識與定位 </a:t>
            </a:r>
            <a:r>
              <a:rPr lang="en-US" altLang="zh-TW" sz="1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(Azure OpenAI)</a:t>
            </a:r>
          </a:p>
          <a:p>
            <a:pPr>
              <a:buNone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利用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 Agent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讀取卡板標籤圖片，</a:t>
            </a: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自動精確提取 </a:t>
            </a:r>
            <a:r>
              <a:rPr lang="en-US" altLang="zh-TW" sz="12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ItemCode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（如：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3AL79092AA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）。系統會根據發言人身份（如：尤明智），</a:t>
            </a: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動態鎖定專屬盤點檔案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inventory_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尤明智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en-US" altLang="zh-TW" sz="1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xls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），且</a:t>
            </a: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錨定點料人員發信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None/>
            </a:pP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None/>
            </a:pP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TW" altLang="en-US" sz="1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自動化數據處理 </a:t>
            </a:r>
            <a:r>
              <a:rPr lang="en-US" altLang="zh-TW" sz="1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(JavaScript Engine)</a:t>
            </a:r>
          </a:p>
          <a:p>
            <a:pPr>
              <a:buNone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透過自定義程式碼處理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數據流，實現</a:t>
            </a:r>
            <a:r>
              <a:rPr lang="zh-TW" altLang="en-US" sz="12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「</a:t>
            </a:r>
            <a:r>
              <a:rPr lang="zh-TW" altLang="en-US" sz="1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非破壞性累加紀錄</a:t>
            </a:r>
            <a:r>
              <a:rPr lang="zh-TW" altLang="en-US" sz="12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」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時間戳記自動標註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：每筆盤點會自動記錄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YYYY/MM/DD HH:MM:SS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格式優化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：針對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顯示特性，多筆紀錄間自動插入「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;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分號與空格」分隔，解決時間數值黏滯問題，確保</a:t>
            </a: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資料清晰可讀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67135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AF819A7-186D-5022-356F-6C2BD436D9E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8A23C4-5B59-48EB-9166-D95BA49D025A}" type="slidenum">
              <a:rPr lang="zh-TW" altLang="en-US" smtClean="0"/>
              <a:pPr/>
              <a:t>1</a:t>
            </a:fld>
            <a:endParaRPr lang="en-US" dirty="0"/>
          </a:p>
        </p:txBody>
      </p:sp>
      <p:pic>
        <p:nvPicPr>
          <p:cNvPr id="6" name="圖片 5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0AFCC186-1E8A-81DA-6CD9-B8FC8FD2F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86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283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21B0935-6097-5E2A-B98C-CBC76D1FDA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8A23C4-5B59-48EB-9166-D95BA49D025A}" type="slidenum">
              <a:rPr lang="zh-TW" altLang="en-US" smtClean="0"/>
              <a:pPr/>
              <a:t>2</a:t>
            </a:fld>
            <a:endParaRPr lang="en-US" dirty="0"/>
          </a:p>
        </p:txBody>
      </p:sp>
      <p:pic>
        <p:nvPicPr>
          <p:cNvPr id="6" name="圖片 5" descr="一張含有 文字, 螢幕擷取畫面, 行動電話 的圖片&#10;&#10;AI 產生的內容可能不正確。">
            <a:extLst>
              <a:ext uri="{FF2B5EF4-FFF2-40B4-BE49-F238E27FC236}">
                <a16:creationId xmlns:a16="http://schemas.microsoft.com/office/drawing/2014/main" id="{97892892-B0E9-6E83-E34D-31D85AF36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82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19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0E897A7-1CDD-8183-F92E-65F201887E9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8A23C4-5B59-48EB-9166-D95BA49D025A}" type="slidenum">
              <a:rPr lang="zh-TW" altLang="en-US" smtClean="0"/>
              <a:pPr/>
              <a:t>3</a:t>
            </a:fld>
            <a:endParaRPr lang="en-US" dirty="0"/>
          </a:p>
        </p:txBody>
      </p:sp>
      <p:pic>
        <p:nvPicPr>
          <p:cNvPr id="6" name="圖片 5" descr="一張含有 文字, 螢幕擷取畫面, 行動電話 的圖片&#10;&#10;AI 產生的內容可能不正確。">
            <a:extLst>
              <a:ext uri="{FF2B5EF4-FFF2-40B4-BE49-F238E27FC236}">
                <a16:creationId xmlns:a16="http://schemas.microsoft.com/office/drawing/2014/main" id="{7114FD6D-99DB-0D20-FC9B-5A832A93B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84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509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C64D08-7C07-873B-96E6-D1653608692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8A23C4-5B59-48EB-9166-D95BA49D025A}" type="slidenum">
              <a:rPr lang="zh-TW" altLang="en-US" smtClean="0"/>
              <a:pPr/>
              <a:t>4</a:t>
            </a:fld>
            <a:endParaRPr lang="en-US" dirty="0"/>
          </a:p>
        </p:txBody>
      </p:sp>
      <p:pic>
        <p:nvPicPr>
          <p:cNvPr id="8" name="圖片 7" descr="一張含有 文字, 螢幕擷取畫面 的圖片&#10;&#10;AI 產生的內容可能不正確。">
            <a:extLst>
              <a:ext uri="{FF2B5EF4-FFF2-40B4-BE49-F238E27FC236}">
                <a16:creationId xmlns:a16="http://schemas.microsoft.com/office/drawing/2014/main" id="{59B8F4F8-BE93-5479-C32C-9231306E2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48" y="468449"/>
            <a:ext cx="6779941" cy="299030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55330AED-81A4-0805-3ADD-19F8CC9B2229}"/>
              </a:ext>
            </a:extLst>
          </p:cNvPr>
          <p:cNvSpPr txBox="1"/>
          <p:nvPr/>
        </p:nvSpPr>
        <p:spPr>
          <a:xfrm>
            <a:off x="0" y="-32239"/>
            <a:ext cx="74044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可同時辨識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筆卡版資料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平均盤點一張卡版只需</a:t>
            </a:r>
            <a:r>
              <a:rPr lang="en-US" altLang="zh-TW" sz="28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1.6</a:t>
            </a:r>
            <a:r>
              <a:rPr lang="zh-TW" altLang="en-US" sz="28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秒 </a:t>
            </a:r>
            <a:r>
              <a:rPr lang="en-US" altLang="zh-TW" sz="28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!!!</a:t>
            </a:r>
          </a:p>
        </p:txBody>
      </p:sp>
      <p:pic>
        <p:nvPicPr>
          <p:cNvPr id="9" name="圖片 8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B99A4B7E-8C3A-E466-8470-055CD9977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275" y="2264987"/>
            <a:ext cx="6047540" cy="2387532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993AB635-689C-083A-4C26-093473D88A27}"/>
              </a:ext>
            </a:extLst>
          </p:cNvPr>
          <p:cNvSpPr txBox="1"/>
          <p:nvPr/>
        </p:nvSpPr>
        <p:spPr>
          <a:xfrm>
            <a:off x="141248" y="4538878"/>
            <a:ext cx="74044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盤點完會順便寄</a:t>
            </a:r>
            <a:r>
              <a:rPr lang="en-US" altLang="zh-TW" sz="20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  <a:r>
              <a:rPr lang="zh-TW" altLang="en-US" sz="20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給使用者盤點狀況 </a:t>
            </a:r>
            <a:r>
              <a:rPr lang="en-US" altLang="zh-TW" sz="20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~</a:t>
            </a:r>
            <a:endParaRPr lang="en-US" altLang="zh-TW" sz="2800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02532C3E-011D-313C-0519-8C0243CC989D}"/>
              </a:ext>
            </a:extLst>
          </p:cNvPr>
          <p:cNvCxnSpPr/>
          <p:nvPr/>
        </p:nvCxnSpPr>
        <p:spPr>
          <a:xfrm flipV="1">
            <a:off x="1115122" y="3888059"/>
            <a:ext cx="1524000" cy="505521"/>
          </a:xfrm>
          <a:prstGeom prst="straightConnector1">
            <a:avLst/>
          </a:prstGeom>
          <a:ln w="101600">
            <a:solidFill>
              <a:srgbClr val="0000FF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331073"/>
      </p:ext>
    </p:extLst>
  </p:cSld>
  <p:clrMapOvr>
    <a:masterClrMapping/>
  </p:clrMapOvr>
</p:sld>
</file>

<file path=ppt/theme/theme1.xml><?xml version="1.0" encoding="utf-8"?>
<a:theme xmlns:a="http://schemas.openxmlformats.org/drawingml/2006/main" name="logo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chemeClr val="tx1">
              <a:lumMod val="50000"/>
              <a:lumOff val="5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>
            <a:solidFill>
              <a:schemeClr val="tx1">
                <a:lumMod val="50000"/>
                <a:lumOff val="50000"/>
              </a:schemeClr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28575">
          <a:solidFill>
            <a:srgbClr val="696969"/>
          </a:solidFill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>
            <a:latin typeface="微軟正黑體" panose="020B0604030504040204" pitchFamily="34" charset="-120"/>
            <a:ea typeface="微軟正黑體" panose="020B0604030504040204" pitchFamily="34" charset="-12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無logo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chemeClr val="tx1">
              <a:lumMod val="50000"/>
              <a:lumOff val="5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>
            <a:solidFill>
              <a:schemeClr val="tx1">
                <a:lumMod val="50000"/>
                <a:lumOff val="50000"/>
              </a:schemeClr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28575">
          <a:solidFill>
            <a:srgbClr val="696969"/>
          </a:solidFill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>
            <a:latin typeface="微軟正黑體" panose="020B0604030504040204" pitchFamily="34" charset="-120"/>
            <a:ea typeface="微軟正黑體" panose="020B0604030504040204" pitchFamily="34" charset="-12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Props1.xml><?xml version="1.0" encoding="utf-8"?>
<ds:datastoreItem xmlns:ds="http://schemas.openxmlformats.org/officeDocument/2006/customXml" ds:itemID="{E4214858-785C-42F7-BE66-6D0E79395F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B6F2769-7194-4217-93D3-3AF3A4742282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sharepoint/v3/field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FNEMasterTemplateForThemePreview.pptx</Template>
  <TotalTime>2627</TotalTime>
  <Words>365</Words>
  <Application>Microsoft Office PowerPoint</Application>
  <PresentationFormat>如螢幕大小 (16:9)</PresentationFormat>
  <Paragraphs>29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Arial</vt:lpstr>
      <vt:lpstr>Calibri</vt:lpstr>
      <vt:lpstr>微軟正黑體</vt:lpstr>
      <vt:lpstr>logo版</vt:lpstr>
      <vt:lpstr>無logo版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FileNewTemplate</dc:title>
  <dc:creator>Kuo, Sean 郭程維 (515746)</dc:creator>
  <cp:lastModifiedBy>Yu, Billy 尤明智 (76112)</cp:lastModifiedBy>
  <cp:revision>188</cp:revision>
  <dcterms:created xsi:type="dcterms:W3CDTF">2010-04-12T23:12:02Z</dcterms:created>
  <dcterms:modified xsi:type="dcterms:W3CDTF">2026-04-21T04:50:56Z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